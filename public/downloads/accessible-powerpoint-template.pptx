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19"/>
  </p:notesMasterIdLst>
  <p:sldIdLst>
    <p:sldId id="267" r:id="rId2"/>
    <p:sldId id="295" r:id="rId3"/>
    <p:sldId id="258" r:id="rId4"/>
    <p:sldId id="259" r:id="rId5"/>
    <p:sldId id="260" r:id="rId6"/>
    <p:sldId id="261" r:id="rId7"/>
    <p:sldId id="268" r:id="rId8"/>
    <p:sldId id="263" r:id="rId9"/>
    <p:sldId id="291" r:id="rId10"/>
    <p:sldId id="292" r:id="rId11"/>
    <p:sldId id="293" r:id="rId12"/>
    <p:sldId id="300" r:id="rId13"/>
    <p:sldId id="264" r:id="rId14"/>
    <p:sldId id="301" r:id="rId15"/>
    <p:sldId id="302" r:id="rId16"/>
    <p:sldId id="265" r:id="rId17"/>
    <p:sldId id="266"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11"/>
    <p:restoredTop sz="94639"/>
  </p:normalViewPr>
  <p:slideViewPr>
    <p:cSldViewPr snapToGrid="0" snapToObjects="1">
      <p:cViewPr varScale="1">
        <p:scale>
          <a:sx n="112" d="100"/>
          <a:sy n="112" d="100"/>
        </p:scale>
        <p:origin x="224" y="10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Percent satisfied</c:v>
                </c:pt>
              </c:strCache>
            </c:strRef>
          </c:tx>
          <c:spPr>
            <a:solidFill>
              <a:srgbClr val="084A3B"/>
            </a:solidFill>
          </c:spPr>
          <c:invertIfNegative val="1"/>
          <c:dLbls>
            <c:numFmt formatCode="0&quot;%&quot;" sourceLinked="0"/>
            <c:spPr>
              <a:noFill/>
              <a:ln>
                <a:noFill/>
              </a:ln>
              <a:effectLst/>
            </c:spPr>
            <c:txPr>
              <a:bodyPr/>
              <a:lstStyle/>
              <a:p>
                <a:pPr>
                  <a:defRPr sz="24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2026</c:v>
                </c:pt>
                <c:pt idx="1">
                  <c:v>Q2 2026</c:v>
                </c:pt>
                <c:pt idx="2">
                  <c:v>Q3 2026</c:v>
                </c:pt>
                <c:pt idx="3">
                  <c:v>Q4 2026</c:v>
                </c:pt>
              </c:strCache>
            </c:strRef>
          </c:cat>
          <c:val>
            <c:numRef>
              <c:f>Sheet1!$B$2:$B$5</c:f>
              <c:numCache>
                <c:formatCode>General</c:formatCode>
                <c:ptCount val="4"/>
                <c:pt idx="0">
                  <c:v>62</c:v>
                </c:pt>
                <c:pt idx="1">
                  <c:v>71</c:v>
                </c:pt>
                <c:pt idx="2">
                  <c:v>78</c:v>
                </c:pt>
                <c:pt idx="3">
                  <c:v>85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A00E-1F4B-B61B-11AF1D3914B3}"/>
            </c:ext>
          </c:extLst>
        </c:ser>
        <c:dLbls>
          <c:dLblPos val="outEnd"/>
          <c:showLegendKey val="0"/>
          <c:showVal val="1"/>
          <c:showCatName val="0"/>
          <c:showSerName val="0"/>
          <c:showPercent val="0"/>
          <c:showBubbleSize val="0"/>
        </c:dLbls>
        <c:gapWidth val="8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2000"/>
            </a:pPr>
            <a:endParaRPr lang="en-US"/>
          </a:p>
        </c:txPr>
        <c:crossAx val="-2113994440"/>
        <c:crosses val="autoZero"/>
        <c:auto val="1"/>
        <c:lblAlgn val="ctr"/>
        <c:lblOffset val="100"/>
        <c:noMultiLvlLbl val="0"/>
      </c:catAx>
      <c:valAx>
        <c:axId val="-2113994440"/>
        <c:scaling>
          <c:orientation val="minMax"/>
          <c:max val="10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20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0583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Welcome to the A11Y Pros Accessible PowerPoint Template. Every slide uses a built-in layout, so titles, reading order, and structure are already in place. Replace the sample text by typing into the existing placeholders rather than drawing new text boxes. Before sharing, run Review &gt; Check Accessibility.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is a quick reference. Delete it before presenting. Layouts that cause accessibility problems (Blank and the vertical-text layouts) have been removed from this template. If a design calls for a slide without a visible title, keep the title and use Accessibility &gt; Slide Title &gt; Add Hidden Slide Title.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Section headers help everyone, including screen reader users, understand how the presentation is organized.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Font sizes in this template are set to 24pt minimum for body text and 40pt for titles. The theme fonts are Calibri, a clear sans-serif font. Avoid long runs of all caps, italics, or underlined text that isn't a link.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The theme colors in this template all meet a contrast ratio of at least 4.5:1 against the white background. Never rely on color alone to convey meaning; pair it with text, icons, or patterns.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chart uses data labels on every bar so values don't depend on reading the axis or telling colors apart. To change the data, select the chart and choose Chart Design &gt; Edit Data. Update the alt text (right-click &gt; View Alt Text) whenever the data changes. Summary for presenters: satisfaction grew every quarter, from 62% to 85%.</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table has a defined header row (Table Design &gt; Header Row) and no merged or split cells, so screen readers can announce column headers as users move through the data. Use tables for data only, never for layout.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To replace this image, right-click it and choose Change Picture, then update the alt text. Describe the purpose of the image in a sentence or two. If an image is purely decorative, check Mark as decorative in the Alt Text pane instead.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Informative images need alt text that says what the image means in context. Purely decorative images, like this leaf, should be marked as decorative: right-click the image, choose View Alt Text, and check Mark as decorative. Screen readers then skip them.</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status uses three cues: a color, a distinct icon shape, and a text label. People who can't tell the colors apart, and screen reader users, still get the status. The icons are marked decorative because the label already says the status. All three colors meet 4.5:1 contrast.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diagrams from shapes with real text, not a flattened picture, so screen readers can reach every step. Check the order in Review &gt; Check Accessibility &gt; Reading Order Pane, mark connector arrows as decorative, and give the grouped diagram a short alt text summary of the whole process.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use your own video, delete this one and choose Insert &gt; Video &gt; This Device. Add alt text describing the video. If it has audio, add captions with Playback &gt; Insert Captions and link a transcript. Set Playback &gt; Start to On Click, and compress the video to keep the file small: File &gt; Info &gt; Compress Media on Windows, or export at 720p before inserting on a Mac.</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PowerPoint can show live captions while you present: Slide Show &gt; Always Use Subtitles. For important events, consider human (CART) captioning.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both columns before you send or post the file. Check Accessibility catches missing alt text, titles, and table headers, but not everything: the reading order, link text, and whether alt text is accurate still need a person to review. Delete instructional slides like this one before presenting.</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structure tags, the PDF loses its headings, reading order, and alt text, and screen readers read it as one block of text. Adobe Acrobat's Accessibility Checker or the free PAC tool can test the result.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Link text describes where each link goes, so it makes sense when a screen reader lists links out of context. Template created by A11Y Pros (a11ypros.com).</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Replace with your contact details. Before sharing this file: run Review &gt; Check Accessibility, check the reading order (Review &gt; Check Accessibility &gt; Reading Order Pane), set File &gt; Info &gt; Properties &gt; Title, and give the file a descriptive name.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accent6"/>
                </a:solidFill>
              </a:defRPr>
            </a:lvl1pPr>
            <a:lvl2pPr marL="457200" indent="0" algn="ctr">
              <a:buNone/>
              <a:defRPr>
                <a:solidFill>
                  <a:schemeClr val="accent6"/>
                </a:solidFill>
              </a:defRPr>
            </a:lvl2pPr>
            <a:lvl3pPr marL="914400" indent="0" algn="ctr">
              <a:buNone/>
              <a:defRPr>
                <a:solidFill>
                  <a:schemeClr val="accent6"/>
                </a:solidFill>
              </a:defRPr>
            </a:lvl3pPr>
            <a:lvl4pPr marL="1371600" indent="0" algn="ctr">
              <a:buNone/>
              <a:defRPr>
                <a:solidFill>
                  <a:schemeClr val="accent6"/>
                </a:solidFill>
              </a:defRPr>
            </a:lvl4pPr>
            <a:lvl5pPr marL="1828800" indent="0" algn="ctr">
              <a:buNone/>
              <a:defRPr>
                <a:solidFill>
                  <a:schemeClr val="accent6"/>
                </a:solidFill>
              </a:defRPr>
            </a:lvl5pPr>
            <a:lvl6pPr marL="2286000" indent="0" algn="ctr">
              <a:buNone/>
              <a:defRPr>
                <a:solidFill>
                  <a:schemeClr val="accent6"/>
                </a:solidFill>
              </a:defRPr>
            </a:lvl6pPr>
            <a:lvl7pPr marL="2743200" indent="0" algn="ctr">
              <a:buNone/>
              <a:defRPr>
                <a:solidFill>
                  <a:schemeClr val="accent6"/>
                </a:solidFill>
              </a:defRPr>
            </a:lvl7pPr>
            <a:lvl8pPr marL="3200400" indent="0" algn="ctr">
              <a:buNone/>
              <a:defRPr>
                <a:solidFill>
                  <a:schemeClr val="accent6"/>
                </a:solidFill>
              </a:defRPr>
            </a:lvl8pPr>
            <a:lvl9pPr marL="3657600" indent="0" algn="ctr">
              <a:buNone/>
              <a:defRPr>
                <a:solidFill>
                  <a:schemeClr val="accent6"/>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400">
                <a:solidFill>
                  <a:schemeClr val="accent6"/>
                </a:solidFill>
              </a:defRPr>
            </a:lvl1pPr>
            <a:lvl2pPr marL="457200" indent="0">
              <a:buNone/>
              <a:defRPr sz="2400">
                <a:solidFill>
                  <a:schemeClr val="accent6"/>
                </a:solidFill>
              </a:defRPr>
            </a:lvl2pPr>
            <a:lvl3pPr marL="914400" indent="0">
              <a:buNone/>
              <a:defRPr sz="2400">
                <a:solidFill>
                  <a:schemeClr val="accent6"/>
                </a:solidFill>
              </a:defRPr>
            </a:lvl3pPr>
            <a:lvl4pPr marL="1371600" indent="0">
              <a:buNone/>
              <a:defRPr sz="2400">
                <a:solidFill>
                  <a:schemeClr val="accent6"/>
                </a:solidFill>
              </a:defRPr>
            </a:lvl4pPr>
            <a:lvl5pPr marL="1828800" indent="0">
              <a:buNone/>
              <a:defRPr sz="2400">
                <a:solidFill>
                  <a:schemeClr val="accent6"/>
                </a:solidFill>
              </a:defRPr>
            </a:lvl5pPr>
            <a:lvl6pPr marL="2286000" indent="0">
              <a:buNone/>
              <a:defRPr sz="2400">
                <a:solidFill>
                  <a:schemeClr val="accent6"/>
                </a:solidFill>
              </a:defRPr>
            </a:lvl6pPr>
            <a:lvl7pPr marL="2743200" indent="0">
              <a:buNone/>
              <a:defRPr sz="2400">
                <a:solidFill>
                  <a:schemeClr val="accent6"/>
                </a:solidFill>
              </a:defRPr>
            </a:lvl7pPr>
            <a:lvl8pPr marL="3200400" indent="0">
              <a:buNone/>
              <a:defRPr sz="2400">
                <a:solidFill>
                  <a:schemeClr val="accent6"/>
                </a:solidFill>
              </a:defRPr>
            </a:lvl8pPr>
            <a:lvl9pPr marL="3657600" indent="0">
              <a:buNone/>
              <a:defRPr sz="2400">
                <a:solidFill>
                  <a:schemeClr val="accent6"/>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4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4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400" b="1"/>
            </a:lvl2pPr>
            <a:lvl3pPr marL="914400" indent="0">
              <a:buNone/>
              <a:defRPr sz="2400" b="1"/>
            </a:lvl3pPr>
            <a:lvl4pPr marL="1371600" indent="0">
              <a:buNone/>
              <a:defRPr sz="2400" b="1"/>
            </a:lvl4pPr>
            <a:lvl5pPr marL="1828800" indent="0">
              <a:buNone/>
              <a:defRPr sz="2400" b="1"/>
            </a:lvl5pPr>
            <a:lvl6pPr marL="2286000" indent="0">
              <a:buNone/>
              <a:defRPr sz="2400" b="1"/>
            </a:lvl6pPr>
            <a:lvl7pPr marL="2743200" indent="0">
              <a:buNone/>
              <a:defRPr sz="2400" b="1"/>
            </a:lvl7pPr>
            <a:lvl8pPr marL="3200400" indent="0">
              <a:buNone/>
              <a:defRPr sz="2400" b="1"/>
            </a:lvl8pPr>
            <a:lvl9pPr marL="3657600" indent="0">
              <a:buNone/>
              <a:defRPr sz="24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400"/>
            </a:lvl2pPr>
            <a:lvl3pPr>
              <a:defRPr sz="24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6" y="1535113"/>
            <a:ext cx="5389033" cy="639762"/>
          </a:xfrm>
        </p:spPr>
        <p:txBody>
          <a:bodyPr anchor="b"/>
          <a:lstStyle>
            <a:lvl1pPr marL="0" indent="0">
              <a:buNone/>
              <a:defRPr sz="2400" b="1"/>
            </a:lvl1pPr>
            <a:lvl2pPr marL="457200" indent="0">
              <a:buNone/>
              <a:defRPr sz="2400" b="1"/>
            </a:lvl2pPr>
            <a:lvl3pPr marL="914400" indent="0">
              <a:buNone/>
              <a:defRPr sz="2400" b="1"/>
            </a:lvl3pPr>
            <a:lvl4pPr marL="1371600" indent="0">
              <a:buNone/>
              <a:defRPr sz="2400" b="1"/>
            </a:lvl4pPr>
            <a:lvl5pPr marL="1828800" indent="0">
              <a:buNone/>
              <a:defRPr sz="2400" b="1"/>
            </a:lvl5pPr>
            <a:lvl6pPr marL="2286000" indent="0">
              <a:buNone/>
              <a:defRPr sz="2400" b="1"/>
            </a:lvl6pPr>
            <a:lvl7pPr marL="2743200" indent="0">
              <a:buNone/>
              <a:defRPr sz="2400" b="1"/>
            </a:lvl7pPr>
            <a:lvl8pPr marL="3200400" indent="0">
              <a:buNone/>
              <a:defRPr sz="2400" b="1"/>
            </a:lvl8pPr>
            <a:lvl9pPr marL="36576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6193366" y="2174875"/>
            <a:ext cx="5389033" cy="3951288"/>
          </a:xfrm>
        </p:spPr>
        <p:txBody>
          <a:bodyPr/>
          <a:lstStyle>
            <a:lvl1pPr>
              <a:defRPr sz="2400"/>
            </a:lvl1pPr>
            <a:lvl2pPr>
              <a:defRPr sz="2400"/>
            </a:lvl2pPr>
            <a:lvl3pPr>
              <a:defRPr sz="24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400" b="1"/>
            </a:lvl1pPr>
          </a:lstStyle>
          <a:p>
            <a:r>
              <a:rPr lang="en-US"/>
              <a:t>Click to edit Master title style</a:t>
            </a:r>
          </a:p>
        </p:txBody>
      </p:sp>
      <p:sp>
        <p:nvSpPr>
          <p:cNvPr id="3" name="Content Placeholder 2"/>
          <p:cNvSpPr>
            <a:spLocks noGrp="1"/>
          </p:cNvSpPr>
          <p:nvPr>
            <p:ph idx="1"/>
          </p:nvPr>
        </p:nvSpPr>
        <p:spPr>
          <a:xfrm>
            <a:off x="4766733" y="273050"/>
            <a:ext cx="6815666" cy="5853113"/>
          </a:xfrm>
        </p:spPr>
        <p:txBody>
          <a:bodyPr/>
          <a:lstStyle>
            <a:lvl1pPr>
              <a:defRPr sz="3200"/>
            </a:lvl1pPr>
            <a:lvl2pPr>
              <a:defRPr sz="2800"/>
            </a:lvl2pPr>
            <a:lvl3pPr>
              <a:defRPr sz="24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0" y="1435100"/>
            <a:ext cx="4011084" cy="4691063"/>
          </a:xfrm>
        </p:spPr>
        <p:txBody>
          <a:bodyPr/>
          <a:lstStyle>
            <a:lvl1pPr marL="0" indent="0">
              <a:buNone/>
              <a:defRPr sz="2400"/>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4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2400"/>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00" name="Decorative top bar">
            <a:extLst>
              <a:ext uri="{C183D7F6-B498-43B3-948B-1728B52AA6E4}">
                <adec:decorative xmlns:adec="http://schemas.microsoft.com/office/drawing/2017/decorative" val="1"/>
              </a:ext>
            </a:extLst>
          </p:cNvPr>
          <p:cNvSpPr/>
          <p:nvPr/>
        </p:nvSpPr>
        <p:spPr>
          <a:xfrm>
            <a:off x="0" y="0"/>
            <a:ext cx="12192000" cy="164592"/>
          </a:xfrm>
          <a:prstGeom prst="rect">
            <a:avLst/>
          </a:prstGeom>
          <a:solidFill>
            <a:srgbClr val="084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lang="en-US" sz="1200">
                <a:solidFill>
                  <a:schemeClr val="accent6"/>
                </a:solidFill>
              </a:defRPr>
            </a:lvl1pPr>
          </a:lstStyle>
          <a:p>
            <a:fld id="{5BCAD085-E8A6-8845-BD4E-CB4CCA059FC4}" type="datetimeFigureOut">
              <a:rPr lang="en-US" smtClean="0"/>
              <a:t>10/20/26</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lang="en-US" sz="1200">
                <a:solidFill>
                  <a:schemeClr val="accent6"/>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lang="en-US" sz="1200">
                <a:solidFill>
                  <a:schemeClr val="accent6"/>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txStyles>
    <p:titleStyle>
      <a:lvl1pPr algn="ctr" defTabSz="457200" rtl="0" eaLnBrk="1" latinLnBrk="0" hangingPunct="1">
        <a:spcBef>
          <a:spcPct val="0"/>
        </a:spcBef>
        <a:buNone/>
        <a:defRPr lang="en-US" sz="4000" b="1" kern="1200">
          <a:solidFill>
            <a:schemeClr val="tx2"/>
          </a:solidFill>
          <a:latin typeface="+mj-lt"/>
          <a:ea typeface="+mj-ea"/>
          <a:cs typeface="+mj-cs"/>
        </a:defRPr>
      </a:lvl1pPr>
    </p:titleStyle>
    <p:bodyStyle>
      <a:lvl1pPr marL="342900" indent="-342900" algn="l" defTabSz="457200" rtl="0" eaLnBrk="1" latinLnBrk="0" hangingPunct="1">
        <a:lnSpc>
          <a:spcPct val="110000"/>
        </a:lnSpc>
        <a:spcBef>
          <a:spcPct val="20000"/>
        </a:spcBef>
        <a:buFont typeface="Arial"/>
        <a:buChar char="•"/>
        <a:defRPr lang="en-US" sz="2800" kern="1200">
          <a:solidFill>
            <a:schemeClr val="tx1"/>
          </a:solidFill>
          <a:latin typeface="+mn-lt"/>
          <a:ea typeface="+mn-ea"/>
          <a:cs typeface="+mn-cs"/>
        </a:defRPr>
      </a:lvl1pPr>
      <a:lvl2pPr marL="742950" indent="-285750" algn="l" defTabSz="457200" rtl="0" eaLnBrk="1" latinLnBrk="0" hangingPunct="1">
        <a:lnSpc>
          <a:spcPct val="110000"/>
        </a:lnSpc>
        <a:spcBef>
          <a:spcPct val="20000"/>
        </a:spcBef>
        <a:buFont typeface="Arial"/>
        <a:buChar char="–"/>
        <a:defRPr lang="en-US" sz="2400" kern="1200">
          <a:solidFill>
            <a:schemeClr val="tx1"/>
          </a:solidFill>
          <a:latin typeface="+mn-lt"/>
          <a:ea typeface="+mn-ea"/>
          <a:cs typeface="+mn-cs"/>
        </a:defRPr>
      </a:lvl2pPr>
      <a:lvl3pPr marL="1143000" indent="-228600" algn="l" defTabSz="457200" rtl="0" eaLnBrk="1" latinLnBrk="0" hangingPunct="1">
        <a:lnSpc>
          <a:spcPct val="110000"/>
        </a:lnSpc>
        <a:spcBef>
          <a:spcPct val="20000"/>
        </a:spcBef>
        <a:buFont typeface="Arial"/>
        <a:buChar char="•"/>
        <a:defRPr lang="en-US" sz="2400" kern="1200">
          <a:solidFill>
            <a:schemeClr val="tx1"/>
          </a:solidFill>
          <a:latin typeface="+mn-lt"/>
          <a:ea typeface="+mn-ea"/>
          <a:cs typeface="+mn-cs"/>
        </a:defRPr>
      </a:lvl3pPr>
      <a:lvl4pPr marL="1600200" indent="-228600" algn="l" defTabSz="457200" rtl="0" eaLnBrk="1" latinLnBrk="0" hangingPunct="1">
        <a:lnSpc>
          <a:spcPct val="110000"/>
        </a:lnSpc>
        <a:spcBef>
          <a:spcPct val="20000"/>
        </a:spcBef>
        <a:buFont typeface="Arial"/>
        <a:buChar char="–"/>
        <a:defRPr lang="en-US" sz="2400" kern="1200">
          <a:solidFill>
            <a:schemeClr val="tx1"/>
          </a:solidFill>
          <a:latin typeface="+mn-lt"/>
          <a:ea typeface="+mn-ea"/>
          <a:cs typeface="+mn-cs"/>
        </a:defRPr>
      </a:lvl4pPr>
      <a:lvl5pPr marL="2057400" indent="-228600" algn="l" defTabSz="457200" rtl="0" eaLnBrk="1" latinLnBrk="0" hangingPunct="1">
        <a:lnSpc>
          <a:spcPct val="110000"/>
        </a:lnSpc>
        <a:spcBef>
          <a:spcPct val="20000"/>
        </a:spcBef>
        <a:buFont typeface="Arial"/>
        <a:buChar char="»"/>
        <a:defRPr lang="en-US" sz="2400" kern="1200">
          <a:solidFill>
            <a:schemeClr val="tx1"/>
          </a:solidFill>
          <a:latin typeface="+mn-lt"/>
          <a:ea typeface="+mn-ea"/>
          <a:cs typeface="+mn-cs"/>
        </a:defRPr>
      </a:lvl5pPr>
      <a:lvl6pPr marL="2514600" indent="-228600" algn="l" defTabSz="457200" rtl="0" eaLnBrk="1" latinLnBrk="0" hangingPunct="1">
        <a:lnSpc>
          <a:spcPct val="110000"/>
        </a:lnSpc>
        <a:spcBef>
          <a:spcPct val="20000"/>
        </a:spcBef>
        <a:buFont typeface="Arial"/>
        <a:buChar char="•"/>
        <a:defRPr lang="en-US" sz="2400" kern="1200">
          <a:solidFill>
            <a:schemeClr val="tx1"/>
          </a:solidFill>
          <a:latin typeface="+mn-lt"/>
          <a:ea typeface="+mn-ea"/>
          <a:cs typeface="+mn-cs"/>
        </a:defRPr>
      </a:lvl6pPr>
      <a:lvl7pPr marL="2971800" indent="-228600" algn="l" defTabSz="457200" rtl="0" eaLnBrk="1" latinLnBrk="0" hangingPunct="1">
        <a:lnSpc>
          <a:spcPct val="110000"/>
        </a:lnSpc>
        <a:spcBef>
          <a:spcPct val="20000"/>
        </a:spcBef>
        <a:buFont typeface="Arial"/>
        <a:buChar char="•"/>
        <a:defRPr lang="en-US" sz="2400" kern="1200">
          <a:solidFill>
            <a:schemeClr val="tx1"/>
          </a:solidFill>
          <a:latin typeface="+mn-lt"/>
          <a:ea typeface="+mn-ea"/>
          <a:cs typeface="+mn-cs"/>
        </a:defRPr>
      </a:lvl7pPr>
      <a:lvl8pPr marL="3429000" indent="-228600" algn="l" defTabSz="457200" rtl="0" eaLnBrk="1" latinLnBrk="0" hangingPunct="1">
        <a:lnSpc>
          <a:spcPct val="110000"/>
        </a:lnSpc>
        <a:spcBef>
          <a:spcPct val="20000"/>
        </a:spcBef>
        <a:buFont typeface="Arial"/>
        <a:buChar char="•"/>
        <a:defRPr lang="en-US" sz="2400" kern="1200">
          <a:solidFill>
            <a:schemeClr val="tx1"/>
          </a:solidFill>
          <a:latin typeface="+mn-lt"/>
          <a:ea typeface="+mn-ea"/>
          <a:cs typeface="+mn-cs"/>
        </a:defRPr>
      </a:lvl8pPr>
      <a:lvl9pPr marL="3886200" indent="-228600" algn="l" defTabSz="457200" rtl="0" eaLnBrk="1" latinLnBrk="0" hangingPunct="1">
        <a:lnSpc>
          <a:spcPct val="110000"/>
        </a:lnSpc>
        <a:spcBef>
          <a:spcPct val="20000"/>
        </a:spcBef>
        <a:buFont typeface="Arial"/>
        <a:buChar char="•"/>
        <a:defRPr lang="en-US" sz="2400" kern="1200">
          <a:solidFill>
            <a:schemeClr val="tx1"/>
          </a:solidFill>
          <a:latin typeface="+mn-lt"/>
          <a:ea typeface="+mn-ea"/>
          <a:cs typeface="+mn-cs"/>
        </a:defRPr>
      </a:lvl9pPr>
    </p:bodyStyle>
    <p:otherStyle>
      <a:defPPr>
        <a:defRPr lang="en-US"/>
      </a:defPPr>
      <a:lvl1pPr marL="0" algn="l" defTabSz="457200" rtl="0" eaLnBrk="1" latinLnBrk="0" hangingPunct="1">
        <a:defRPr lang="en-US" sz="2400" kern="1200">
          <a:solidFill>
            <a:schemeClr val="tx1"/>
          </a:solidFill>
          <a:latin typeface="+mn-lt"/>
          <a:ea typeface="+mn-ea"/>
          <a:cs typeface="+mn-cs"/>
        </a:defRPr>
      </a:lvl1pPr>
      <a:lvl2pPr marL="457200" algn="l" defTabSz="457200" rtl="0" eaLnBrk="1" latinLnBrk="0" hangingPunct="1">
        <a:defRPr lang="en-US" sz="2400" kern="1200">
          <a:solidFill>
            <a:schemeClr val="tx1"/>
          </a:solidFill>
          <a:latin typeface="+mn-lt"/>
          <a:ea typeface="+mn-ea"/>
          <a:cs typeface="+mn-cs"/>
        </a:defRPr>
      </a:lvl2pPr>
      <a:lvl3pPr marL="914400" algn="l" defTabSz="457200" rtl="0" eaLnBrk="1" latinLnBrk="0" hangingPunct="1">
        <a:defRPr lang="en-US" sz="2400" kern="1200">
          <a:solidFill>
            <a:schemeClr val="tx1"/>
          </a:solidFill>
          <a:latin typeface="+mn-lt"/>
          <a:ea typeface="+mn-ea"/>
          <a:cs typeface="+mn-cs"/>
        </a:defRPr>
      </a:lvl3pPr>
      <a:lvl4pPr marL="1371600" algn="l" defTabSz="457200" rtl="0" eaLnBrk="1" latinLnBrk="0" hangingPunct="1">
        <a:defRPr lang="en-US" sz="2400" kern="1200">
          <a:solidFill>
            <a:schemeClr val="tx1"/>
          </a:solidFill>
          <a:latin typeface="+mn-lt"/>
          <a:ea typeface="+mn-ea"/>
          <a:cs typeface="+mn-cs"/>
        </a:defRPr>
      </a:lvl4pPr>
      <a:lvl5pPr marL="1828800" algn="l" defTabSz="457200" rtl="0" eaLnBrk="1" latinLnBrk="0" hangingPunct="1">
        <a:defRPr lang="en-US" sz="2400" kern="1200">
          <a:solidFill>
            <a:schemeClr val="tx1"/>
          </a:solidFill>
          <a:latin typeface="+mn-lt"/>
          <a:ea typeface="+mn-ea"/>
          <a:cs typeface="+mn-cs"/>
        </a:defRPr>
      </a:lvl5pPr>
      <a:lvl6pPr marL="2286000" algn="l" defTabSz="457200" rtl="0" eaLnBrk="1" latinLnBrk="0" hangingPunct="1">
        <a:defRPr lang="en-US" sz="2400" kern="1200">
          <a:solidFill>
            <a:schemeClr val="tx1"/>
          </a:solidFill>
          <a:latin typeface="+mn-lt"/>
          <a:ea typeface="+mn-ea"/>
          <a:cs typeface="+mn-cs"/>
        </a:defRPr>
      </a:lvl6pPr>
      <a:lvl7pPr marL="2743200" algn="l" defTabSz="457200" rtl="0" eaLnBrk="1" latinLnBrk="0" hangingPunct="1">
        <a:defRPr lang="en-US" sz="2400" kern="1200">
          <a:solidFill>
            <a:schemeClr val="tx1"/>
          </a:solidFill>
          <a:latin typeface="+mn-lt"/>
          <a:ea typeface="+mn-ea"/>
          <a:cs typeface="+mn-cs"/>
        </a:defRPr>
      </a:lvl7pPr>
      <a:lvl8pPr marL="3200400" algn="l" defTabSz="457200" rtl="0" eaLnBrk="1" latinLnBrk="0" hangingPunct="1">
        <a:defRPr lang="en-US" sz="2400" kern="1200">
          <a:solidFill>
            <a:schemeClr val="tx1"/>
          </a:solidFill>
          <a:latin typeface="+mn-lt"/>
          <a:ea typeface="+mn-ea"/>
          <a:cs typeface="+mn-cs"/>
        </a:defRPr>
      </a:lvl8pPr>
      <a:lvl9pPr marL="3657600" algn="l" defTabSz="457200" rtl="0" eaLnBrk="1" latinLnBrk="0" hangingPunct="1">
        <a:defRPr lang="en-US"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6.sv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a11ypros.com/blog/how-to-create-accessible-powerpoint-presentations"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s://www.w3.org/WAI/WCAG22/quickref/" TargetMode="External"/><Relationship Id="rId4" Type="http://schemas.openxmlformats.org/officeDocument/2006/relationships/hyperlink" Target="https://support.microsoft.com/office/make-your-powerpoint-presentations-accessible-to-people-with-disabilities-6f7772b2-2f33-4bd2-8ca7-dae3b2b3ef25"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Presentation Title</a:t>
            </a:r>
          </a:p>
        </p:txBody>
      </p:sp>
      <p:sp>
        <p:nvSpPr>
          <p:cNvPr id="3" name="Subtitle 2"/>
          <p:cNvSpPr>
            <a:spLocks noGrp="1"/>
          </p:cNvSpPr>
          <p:nvPr>
            <p:ph type="subTitle" idx="1"/>
          </p:nvPr>
        </p:nvSpPr>
        <p:spPr/>
        <p:txBody>
          <a:bodyPr/>
          <a:lstStyle/>
          <a:p>
            <a:r>
              <a:rPr lang="en-US"/>
              <a:t>Presenter Name | Organization | Date</a:t>
            </a:r>
          </a:p>
        </p:txBody>
      </p:sp>
    </p:spTree>
    <p:extLst>
      <p:ext uri="{BB962C8B-B14F-4D97-AF65-F5344CB8AC3E}">
        <p14:creationId xmlns:p14="http://schemas.microsoft.com/office/powerpoint/2010/main" val="817176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How to Use This Template</a:t>
            </a:r>
          </a:p>
        </p:txBody>
      </p:sp>
      <p:sp>
        <p:nvSpPr>
          <p:cNvPr id="3" name="Content Placeholder 2"/>
          <p:cNvSpPr>
            <a:spLocks noGrp="1"/>
          </p:cNvSpPr>
          <p:nvPr>
            <p:ph idx="1"/>
          </p:nvPr>
        </p:nvSpPr>
        <p:spPr/>
        <p:txBody>
          <a:bodyPr/>
          <a:lstStyle/>
          <a:p>
            <a:r>
              <a:rPr lang="en-US"/>
              <a:t>Add slides with Home &gt; New Slide and choose a layout</a:t>
            </a:r>
          </a:p>
          <a:p>
            <a:r>
              <a:rPr lang="en-US"/>
              <a:t>Type into placeholders instead of drawing text boxes</a:t>
            </a:r>
          </a:p>
          <a:p>
            <a:r>
              <a:rPr lang="en-US"/>
              <a:t>Give every slide a unique title</a:t>
            </a:r>
          </a:p>
          <a:p>
            <a:r>
              <a:rPr lang="en-US"/>
              <a:t>Add alt text to images, charts, and diagrams</a:t>
            </a:r>
          </a:p>
          <a:p>
            <a:r>
              <a:rPr lang="en-US"/>
              <a:t>Copy the examples on slides 6–12 for charts, tables, images, status, diagrams, and video</a:t>
            </a:r>
          </a:p>
          <a:p>
            <a:r>
              <a:rPr lang="en-US"/>
              <a:t>Run the checklist on slide 14 before sharing</a:t>
            </a:r>
          </a:p>
        </p:txBody>
      </p:sp>
    </p:spTree>
    <p:extLst>
      <p:ext uri="{BB962C8B-B14F-4D97-AF65-F5344CB8AC3E}">
        <p14:creationId xmlns:p14="http://schemas.microsoft.com/office/powerpoint/2010/main" val="4034920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Section Title</a:t>
            </a:r>
          </a:p>
        </p:txBody>
      </p:sp>
      <p:sp>
        <p:nvSpPr>
          <p:cNvPr id="3" name="Text Placeholder 2"/>
          <p:cNvSpPr>
            <a:spLocks noGrp="1"/>
          </p:cNvSpPr>
          <p:nvPr>
            <p:ph type="body" idx="1"/>
          </p:nvPr>
        </p:nvSpPr>
        <p:spPr/>
        <p:txBody>
          <a:bodyPr/>
          <a:lstStyle/>
          <a:p>
            <a:r>
              <a:rPr lang="en-US"/>
              <a:t>Use section slides to divide longer presentations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Writing Accessible Slide Text</a:t>
            </a:r>
          </a:p>
        </p:txBody>
      </p:sp>
      <p:sp>
        <p:nvSpPr>
          <p:cNvPr id="3" name="Content Placeholder 2"/>
          <p:cNvSpPr>
            <a:spLocks noGrp="1"/>
          </p:cNvSpPr>
          <p:nvPr>
            <p:ph idx="1"/>
          </p:nvPr>
        </p:nvSpPr>
        <p:spPr/>
        <p:txBody>
          <a:bodyPr/>
          <a:lstStyle/>
          <a:p>
            <a:r>
              <a:rPr lang="en-US"/>
              <a:t>Keep one main idea per slide</a:t>
            </a:r>
          </a:p>
          <a:p>
            <a:r>
              <a:rPr lang="en-US"/>
              <a:t>Use the built-in bullet and numbering buttons</a:t>
            </a:r>
          </a:p>
          <a:p>
            <a:r>
              <a:rPr lang="en-US"/>
              <a:t>Keep text at 24pt or larger</a:t>
            </a:r>
          </a:p>
          <a:p>
            <a:r>
              <a:rPr lang="en-US"/>
              <a:t>Write link text that describes the destination</a:t>
            </a:r>
          </a:p>
          <a:p>
            <a:r>
              <a:rPr lang="en-US"/>
              <a:t>Use plain language and avoid long paragraphs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Accessible Design: Do and Avoid</a:t>
            </a:r>
          </a:p>
        </p:txBody>
      </p:sp>
      <p:sp>
        <p:nvSpPr>
          <p:cNvPr id="3" name="Text Placeholder 2"/>
          <p:cNvSpPr>
            <a:spLocks noGrp="1"/>
          </p:cNvSpPr>
          <p:nvPr>
            <p:ph type="body" idx="1"/>
          </p:nvPr>
        </p:nvSpPr>
        <p:spPr/>
        <p:txBody>
          <a:bodyPr/>
          <a:lstStyle/>
          <a:p>
            <a:r>
              <a:rPr lang="en-US"/>
              <a:t>Do</a:t>
            </a:r>
          </a:p>
        </p:txBody>
      </p:sp>
      <p:sp>
        <p:nvSpPr>
          <p:cNvPr id="4" name="Content Placeholder 3"/>
          <p:cNvSpPr>
            <a:spLocks noGrp="1"/>
          </p:cNvSpPr>
          <p:nvPr>
            <p:ph sz="half" idx="2"/>
          </p:nvPr>
        </p:nvSpPr>
        <p:spPr/>
        <p:txBody>
          <a:bodyPr/>
          <a:lstStyle/>
          <a:p>
            <a:r>
              <a:rPr lang="en-US"/>
              <a:t>Use high-contrast colors</a:t>
            </a:r>
          </a:p>
          <a:p>
            <a:r>
              <a:rPr lang="en-US"/>
              <a:t>Label charts directly</a:t>
            </a:r>
          </a:p>
          <a:p>
            <a:r>
              <a:rPr lang="en-US"/>
              <a:t>Caption all videos</a:t>
            </a:r>
          </a:p>
        </p:txBody>
      </p:sp>
      <p:sp>
        <p:nvSpPr>
          <p:cNvPr id="5" name="Text Placeholder 4"/>
          <p:cNvSpPr>
            <a:spLocks noGrp="1"/>
          </p:cNvSpPr>
          <p:nvPr>
            <p:ph type="body" sz="quarter" idx="3"/>
          </p:nvPr>
        </p:nvSpPr>
        <p:spPr/>
        <p:txBody>
          <a:bodyPr/>
          <a:lstStyle/>
          <a:p>
            <a:r>
              <a:rPr lang="en-US"/>
              <a:t>Avoid</a:t>
            </a:r>
          </a:p>
        </p:txBody>
      </p:sp>
      <p:sp>
        <p:nvSpPr>
          <p:cNvPr id="6" name="Content Placeholder 5"/>
          <p:cNvSpPr>
            <a:spLocks noGrp="1"/>
          </p:cNvSpPr>
          <p:nvPr>
            <p:ph sz="quarter" idx="4"/>
          </p:nvPr>
        </p:nvSpPr>
        <p:spPr/>
        <p:txBody>
          <a:bodyPr/>
          <a:lstStyle/>
          <a:p>
            <a:r>
              <a:rPr lang="en-US"/>
              <a:t>Text over busy photos</a:t>
            </a:r>
          </a:p>
          <a:p>
            <a:r>
              <a:rPr lang="en-US"/>
              <a:t>Color as the only cue</a:t>
            </a:r>
          </a:p>
          <a:p>
            <a:r>
              <a:rPr lang="en-US"/>
              <a:t>Flashing or auto-playing media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Chart: Customer Satisfaction by Quarter</a:t>
            </a:r>
          </a:p>
        </p:txBody>
      </p:sp>
      <p:graphicFrame>
        <p:nvGraphicFramePr>
          <p:cNvPr id="3" name="Customer satisfaction chart" descr="Column chart of customer satisfaction by quarter in 2026: 62% in Q1, 71% in Q2, 78% in Q3, and 85% in Q4, showing steady growth throughout the year."/>
          <p:cNvGraphicFramePr>
            <a:graphicFrameLocks noGrp="1"/>
          </p:cNvGraphicFramePr>
          <p:nvPr/>
        </p:nvGraphicFramePr>
        <p:xfrm>
          <a:off x="1097280" y="1737360"/>
          <a:ext cx="9966960" cy="44805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Table: Project Timeline</a:t>
            </a:r>
          </a:p>
        </p:txBody>
      </p:sp>
      <p:graphicFrame>
        <p:nvGraphicFramePr>
          <p:cNvPr id="3" name="Project timeline table" descr="Project timeline table with four phases, listing start date, end date, and owner for each phase."/>
          <p:cNvGraphicFramePr>
            <a:graphicFrameLocks noGrp="1"/>
          </p:cNvGraphicFramePr>
          <p:nvPr>
            <p:extLst>
              <p:ext uri="{D42A27DB-BD31-4B8C-83A1-F6EECF244321}">
                <p14:modId xmlns:p14="http://schemas.microsoft.com/office/powerpoint/2010/main" val="4220050660"/>
              </p:ext>
            </p:extLst>
          </p:nvPr>
        </p:nvGraphicFramePr>
        <p:xfrm>
          <a:off x="1097280" y="1737360"/>
          <a:ext cx="9966960" cy="3840480"/>
        </p:xfrm>
        <a:graphic>
          <a:graphicData uri="http://schemas.openxmlformats.org/drawingml/2006/table">
            <a:tbl>
              <a:tblPr firstRow="1" bandRow="1">
                <a:tableStyleId>{5C22544A-7EE6-4342-B048-85BDC9FD1C3A}</a:tableStyleId>
              </a:tblPr>
              <a:tblGrid>
                <a:gridCol w="2491740">
                  <a:extLst>
                    <a:ext uri="{9D8B030D-6E8A-4147-A177-3AD203B41FA5}">
                      <a16:colId xmlns:a16="http://schemas.microsoft.com/office/drawing/2014/main" val="20000"/>
                    </a:ext>
                  </a:extLst>
                </a:gridCol>
                <a:gridCol w="2491740">
                  <a:extLst>
                    <a:ext uri="{9D8B030D-6E8A-4147-A177-3AD203B41FA5}">
                      <a16:colId xmlns:a16="http://schemas.microsoft.com/office/drawing/2014/main" val="20001"/>
                    </a:ext>
                  </a:extLst>
                </a:gridCol>
                <a:gridCol w="2491740">
                  <a:extLst>
                    <a:ext uri="{9D8B030D-6E8A-4147-A177-3AD203B41FA5}">
                      <a16:colId xmlns:a16="http://schemas.microsoft.com/office/drawing/2014/main" val="20002"/>
                    </a:ext>
                  </a:extLst>
                </a:gridCol>
                <a:gridCol w="2491740">
                  <a:extLst>
                    <a:ext uri="{9D8B030D-6E8A-4147-A177-3AD203B41FA5}">
                      <a16:colId xmlns:a16="http://schemas.microsoft.com/office/drawing/2014/main" val="20003"/>
                    </a:ext>
                  </a:extLst>
                </a:gridCol>
              </a:tblGrid>
              <a:tr h="768096">
                <a:tc>
                  <a:txBody>
                    <a:bodyPr/>
                    <a:lstStyle/>
                    <a:p>
                      <a:r>
                        <a:rPr lang="en-US" sz="2400" b="1">
                          <a:solidFill>
                            <a:srgbClr val="FFFFFF"/>
                          </a:solidFill>
                        </a:rPr>
                        <a:t>Phase</a:t>
                      </a:r>
                      <a:endParaRPr lang="en-US"/>
                    </a:p>
                  </a:txBody>
                  <a:tcPr>
                    <a:solidFill>
                      <a:srgbClr val="0B2545"/>
                    </a:solidFill>
                  </a:tcPr>
                </a:tc>
                <a:tc>
                  <a:txBody>
                    <a:bodyPr/>
                    <a:lstStyle/>
                    <a:p>
                      <a:r>
                        <a:rPr lang="en-US" sz="2400" b="1">
                          <a:solidFill>
                            <a:srgbClr val="FFFFFF"/>
                          </a:solidFill>
                        </a:rPr>
                        <a:t>Start</a:t>
                      </a:r>
                      <a:endParaRPr lang="en-US"/>
                    </a:p>
                  </a:txBody>
                  <a:tcPr>
                    <a:solidFill>
                      <a:srgbClr val="0B2545"/>
                    </a:solidFill>
                  </a:tcPr>
                </a:tc>
                <a:tc>
                  <a:txBody>
                    <a:bodyPr/>
                    <a:lstStyle/>
                    <a:p>
                      <a:r>
                        <a:rPr lang="en-US" sz="2400" b="1">
                          <a:solidFill>
                            <a:srgbClr val="FFFFFF"/>
                          </a:solidFill>
                        </a:rPr>
                        <a:t>End</a:t>
                      </a:r>
                      <a:endParaRPr lang="en-US"/>
                    </a:p>
                  </a:txBody>
                  <a:tcPr>
                    <a:solidFill>
                      <a:srgbClr val="0B2545"/>
                    </a:solidFill>
                  </a:tcPr>
                </a:tc>
                <a:tc>
                  <a:txBody>
                    <a:bodyPr/>
                    <a:lstStyle/>
                    <a:p>
                      <a:r>
                        <a:rPr lang="en-US" sz="2400" b="1">
                          <a:solidFill>
                            <a:srgbClr val="FFFFFF"/>
                          </a:solidFill>
                        </a:rPr>
                        <a:t>Owner</a:t>
                      </a:r>
                      <a:endParaRPr lang="en-US"/>
                    </a:p>
                  </a:txBody>
                  <a:tcPr>
                    <a:solidFill>
                      <a:srgbClr val="0B2545"/>
                    </a:solidFill>
                  </a:tcPr>
                </a:tc>
                <a:extLst>
                  <a:ext uri="{0D108BD9-81ED-4DB2-BD59-A6C34878D82A}">
                    <a16:rowId xmlns:a16="http://schemas.microsoft.com/office/drawing/2014/main" val="10000"/>
                  </a:ext>
                </a:extLst>
              </a:tr>
              <a:tr h="768096">
                <a:tc>
                  <a:txBody>
                    <a:bodyPr/>
                    <a:lstStyle/>
                    <a:p>
                      <a:r>
                        <a:rPr lang="en-US" sz="2400" b="0">
                          <a:solidFill>
                            <a:srgbClr val="1A1A1A"/>
                          </a:solidFill>
                        </a:rPr>
                        <a:t>Discovery</a:t>
                      </a:r>
                      <a:endParaRPr lang="en-US"/>
                    </a:p>
                  </a:txBody>
                  <a:tcPr>
                    <a:solidFill>
                      <a:srgbClr val="FFFFFF"/>
                    </a:solidFill>
                  </a:tcPr>
                </a:tc>
                <a:tc>
                  <a:txBody>
                    <a:bodyPr/>
                    <a:lstStyle/>
                    <a:p>
                      <a:r>
                        <a:rPr lang="en-US" sz="2400" b="0">
                          <a:solidFill>
                            <a:srgbClr val="1A1A1A"/>
                          </a:solidFill>
                        </a:rPr>
                        <a:t>January 5</a:t>
                      </a:r>
                      <a:endParaRPr lang="en-US"/>
                    </a:p>
                  </a:txBody>
                  <a:tcPr>
                    <a:solidFill>
                      <a:srgbClr val="FFFFFF"/>
                    </a:solidFill>
                  </a:tcPr>
                </a:tc>
                <a:tc>
                  <a:txBody>
                    <a:bodyPr/>
                    <a:lstStyle/>
                    <a:p>
                      <a:r>
                        <a:rPr lang="en-US" sz="2400" b="0">
                          <a:solidFill>
                            <a:srgbClr val="1A1A1A"/>
                          </a:solidFill>
                        </a:rPr>
                        <a:t>January 30</a:t>
                      </a:r>
                      <a:endParaRPr lang="en-US"/>
                    </a:p>
                  </a:txBody>
                  <a:tcPr>
                    <a:solidFill>
                      <a:srgbClr val="FFFFFF"/>
                    </a:solidFill>
                  </a:tcPr>
                </a:tc>
                <a:tc>
                  <a:txBody>
                    <a:bodyPr/>
                    <a:lstStyle/>
                    <a:p>
                      <a:r>
                        <a:rPr lang="en-US" sz="2400" b="0">
                          <a:solidFill>
                            <a:srgbClr val="1A1A1A"/>
                          </a:solidFill>
                        </a:rPr>
                        <a:t>Research team</a:t>
                      </a:r>
                      <a:endParaRPr lang="en-US"/>
                    </a:p>
                  </a:txBody>
                  <a:tcPr>
                    <a:solidFill>
                      <a:srgbClr val="FFFFFF"/>
                    </a:solidFill>
                  </a:tcPr>
                </a:tc>
                <a:extLst>
                  <a:ext uri="{0D108BD9-81ED-4DB2-BD59-A6C34878D82A}">
                    <a16:rowId xmlns:a16="http://schemas.microsoft.com/office/drawing/2014/main" val="10001"/>
                  </a:ext>
                </a:extLst>
              </a:tr>
              <a:tr h="768096">
                <a:tc>
                  <a:txBody>
                    <a:bodyPr/>
                    <a:lstStyle/>
                    <a:p>
                      <a:r>
                        <a:rPr lang="en-US" sz="2400" b="0">
                          <a:solidFill>
                            <a:srgbClr val="1A1A1A"/>
                          </a:solidFill>
                        </a:rPr>
                        <a:t>Design</a:t>
                      </a:r>
                      <a:endParaRPr lang="en-US"/>
                    </a:p>
                  </a:txBody>
                  <a:tcPr>
                    <a:solidFill>
                      <a:srgbClr val="EEF4F2"/>
                    </a:solidFill>
                  </a:tcPr>
                </a:tc>
                <a:tc>
                  <a:txBody>
                    <a:bodyPr/>
                    <a:lstStyle/>
                    <a:p>
                      <a:r>
                        <a:rPr lang="en-US" sz="2400" b="0">
                          <a:solidFill>
                            <a:srgbClr val="1A1A1A"/>
                          </a:solidFill>
                        </a:rPr>
                        <a:t>February 2</a:t>
                      </a:r>
                      <a:endParaRPr lang="en-US"/>
                    </a:p>
                  </a:txBody>
                  <a:tcPr>
                    <a:solidFill>
                      <a:srgbClr val="EEF4F2"/>
                    </a:solidFill>
                  </a:tcPr>
                </a:tc>
                <a:tc>
                  <a:txBody>
                    <a:bodyPr/>
                    <a:lstStyle/>
                    <a:p>
                      <a:r>
                        <a:rPr lang="en-US" sz="2400" b="0">
                          <a:solidFill>
                            <a:srgbClr val="1A1A1A"/>
                          </a:solidFill>
                        </a:rPr>
                        <a:t>March 13</a:t>
                      </a:r>
                      <a:endParaRPr lang="en-US"/>
                    </a:p>
                  </a:txBody>
                  <a:tcPr>
                    <a:solidFill>
                      <a:srgbClr val="EEF4F2"/>
                    </a:solidFill>
                  </a:tcPr>
                </a:tc>
                <a:tc>
                  <a:txBody>
                    <a:bodyPr/>
                    <a:lstStyle/>
                    <a:p>
                      <a:r>
                        <a:rPr lang="en-US" sz="2400" b="0">
                          <a:solidFill>
                            <a:srgbClr val="1A1A1A"/>
                          </a:solidFill>
                        </a:rPr>
                        <a:t>Design team</a:t>
                      </a:r>
                      <a:endParaRPr lang="en-US"/>
                    </a:p>
                  </a:txBody>
                  <a:tcPr>
                    <a:solidFill>
                      <a:srgbClr val="EEF4F2"/>
                    </a:solidFill>
                  </a:tcPr>
                </a:tc>
                <a:extLst>
                  <a:ext uri="{0D108BD9-81ED-4DB2-BD59-A6C34878D82A}">
                    <a16:rowId xmlns:a16="http://schemas.microsoft.com/office/drawing/2014/main" val="10002"/>
                  </a:ext>
                </a:extLst>
              </a:tr>
              <a:tr h="768096">
                <a:tc>
                  <a:txBody>
                    <a:bodyPr/>
                    <a:lstStyle/>
                    <a:p>
                      <a:r>
                        <a:rPr lang="en-US" sz="2400" b="0">
                          <a:solidFill>
                            <a:srgbClr val="1A1A1A"/>
                          </a:solidFill>
                        </a:rPr>
                        <a:t>Build</a:t>
                      </a:r>
                      <a:endParaRPr lang="en-US"/>
                    </a:p>
                  </a:txBody>
                  <a:tcPr>
                    <a:solidFill>
                      <a:srgbClr val="FFFFFF"/>
                    </a:solidFill>
                  </a:tcPr>
                </a:tc>
                <a:tc>
                  <a:txBody>
                    <a:bodyPr/>
                    <a:lstStyle/>
                    <a:p>
                      <a:r>
                        <a:rPr lang="en-US" sz="2400" b="0">
                          <a:solidFill>
                            <a:srgbClr val="1A1A1A"/>
                          </a:solidFill>
                        </a:rPr>
                        <a:t>March 16</a:t>
                      </a:r>
                      <a:endParaRPr lang="en-US"/>
                    </a:p>
                  </a:txBody>
                  <a:tcPr>
                    <a:solidFill>
                      <a:srgbClr val="FFFFFF"/>
                    </a:solidFill>
                  </a:tcPr>
                </a:tc>
                <a:tc>
                  <a:txBody>
                    <a:bodyPr/>
                    <a:lstStyle/>
                    <a:p>
                      <a:r>
                        <a:rPr lang="en-US" sz="2400" b="0">
                          <a:solidFill>
                            <a:srgbClr val="1A1A1A"/>
                          </a:solidFill>
                        </a:rPr>
                        <a:t>May 29</a:t>
                      </a:r>
                      <a:endParaRPr lang="en-US"/>
                    </a:p>
                  </a:txBody>
                  <a:tcPr>
                    <a:solidFill>
                      <a:srgbClr val="FFFFFF"/>
                    </a:solidFill>
                  </a:tcPr>
                </a:tc>
                <a:tc>
                  <a:txBody>
                    <a:bodyPr/>
                    <a:lstStyle/>
                    <a:p>
                      <a:r>
                        <a:rPr lang="en-US" sz="2400" b="0">
                          <a:solidFill>
                            <a:srgbClr val="1A1A1A"/>
                          </a:solidFill>
                        </a:rPr>
                        <a:t>Engineering</a:t>
                      </a:r>
                      <a:endParaRPr lang="en-US"/>
                    </a:p>
                  </a:txBody>
                  <a:tcPr>
                    <a:solidFill>
                      <a:srgbClr val="FFFFFF"/>
                    </a:solidFill>
                  </a:tcPr>
                </a:tc>
                <a:extLst>
                  <a:ext uri="{0D108BD9-81ED-4DB2-BD59-A6C34878D82A}">
                    <a16:rowId xmlns:a16="http://schemas.microsoft.com/office/drawing/2014/main" val="10003"/>
                  </a:ext>
                </a:extLst>
              </a:tr>
              <a:tr h="768096">
                <a:tc>
                  <a:txBody>
                    <a:bodyPr/>
                    <a:lstStyle/>
                    <a:p>
                      <a:r>
                        <a:rPr lang="en-US" sz="2400" b="0">
                          <a:solidFill>
                            <a:srgbClr val="1A1A1A"/>
                          </a:solidFill>
                        </a:rPr>
                        <a:t>Launch</a:t>
                      </a:r>
                      <a:endParaRPr lang="en-US"/>
                    </a:p>
                  </a:txBody>
                  <a:tcPr>
                    <a:solidFill>
                      <a:srgbClr val="EEF4F2"/>
                    </a:solidFill>
                  </a:tcPr>
                </a:tc>
                <a:tc>
                  <a:txBody>
                    <a:bodyPr/>
                    <a:lstStyle/>
                    <a:p>
                      <a:r>
                        <a:rPr lang="en-US" sz="2400" b="0">
                          <a:solidFill>
                            <a:srgbClr val="1A1A1A"/>
                          </a:solidFill>
                        </a:rPr>
                        <a:t>June 1</a:t>
                      </a:r>
                      <a:endParaRPr lang="en-US"/>
                    </a:p>
                  </a:txBody>
                  <a:tcPr>
                    <a:solidFill>
                      <a:srgbClr val="EEF4F2"/>
                    </a:solidFill>
                  </a:tcPr>
                </a:tc>
                <a:tc>
                  <a:txBody>
                    <a:bodyPr/>
                    <a:lstStyle/>
                    <a:p>
                      <a:r>
                        <a:rPr lang="en-US" sz="2400" b="0">
                          <a:solidFill>
                            <a:srgbClr val="1A1A1A"/>
                          </a:solidFill>
                        </a:rPr>
                        <a:t>June 12</a:t>
                      </a:r>
                      <a:endParaRPr lang="en-US"/>
                    </a:p>
                  </a:txBody>
                  <a:tcPr>
                    <a:solidFill>
                      <a:srgbClr val="EEF4F2"/>
                    </a:solidFill>
                  </a:tcPr>
                </a:tc>
                <a:tc>
                  <a:txBody>
                    <a:bodyPr/>
                    <a:lstStyle/>
                    <a:p>
                      <a:r>
                        <a:rPr lang="en-US" sz="2400" b="0">
                          <a:solidFill>
                            <a:srgbClr val="1A1A1A"/>
                          </a:solidFill>
                        </a:rPr>
                        <a:t>Product team</a:t>
                      </a:r>
                      <a:endParaRPr lang="en-US"/>
                    </a:p>
                  </a:txBody>
                  <a:tcPr>
                    <a:solidFill>
                      <a:srgbClr val="EEF4F2"/>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63444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Image with Alt Text</a:t>
            </a:r>
          </a:p>
        </p:txBody>
      </p:sp>
      <p:pic>
        <p:nvPicPr>
          <p:cNvPr id="3" name="Accessible presentation illustration" descr="Illustration of a laptop showing a slide with a patterned bar chart and an image labeled ALT, surrounded by closed captioning, headphones, keyboard, and checkmark icons, with four people looking on."/>
          <p:cNvPicPr>
            <a:picLocks noGrp="1" noChangeAspect="1"/>
          </p:cNvPicPr>
          <p:nvPr>
            <p:ph type="pic" idx="1"/>
          </p:nvPr>
        </p:nvPicPr>
        <p:blipFill>
          <a:blip r:embed="rId3"/>
          <a:srcRect l="438" r="438"/>
          <a:stretch/>
        </p:blipFill>
        <p:spPr/>
      </p:pic>
      <p:sp>
        <p:nvSpPr>
          <p:cNvPr id="4" name="Text Placeholder 3"/>
          <p:cNvSpPr>
            <a:spLocks noGrp="1"/>
          </p:cNvSpPr>
          <p:nvPr>
            <p:ph type="body" sz="half" idx="2"/>
          </p:nvPr>
        </p:nvSpPr>
        <p:spPr/>
        <p:txBody>
          <a:bodyPr>
            <a:normAutofit fontScale="92500" lnSpcReduction="10000"/>
          </a:bodyPr>
          <a:lstStyle/>
          <a:p>
            <a:r>
              <a:rPr lang="en-US"/>
              <a:t>Every informative image needs alt text. Right-click an image and choose View Alt Text to add or edit 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07CA1-07AA-8BE9-EC88-E8AA136DAA84}"/>
              </a:ext>
            </a:extLst>
          </p:cNvPr>
          <p:cNvSpPr>
            <a:spLocks noGrp="1"/>
          </p:cNvSpPr>
          <p:nvPr>
            <p:ph type="title"/>
          </p:nvPr>
        </p:nvSpPr>
        <p:spPr/>
        <p:txBody>
          <a:bodyPr/>
          <a:lstStyle/>
          <a:p>
            <a:r>
              <a:rPr lang="en-US" dirty="0"/>
              <a:t>Example: Informative vs. Decorative Images</a:t>
            </a:r>
          </a:p>
        </p:txBody>
      </p:sp>
      <p:sp>
        <p:nvSpPr>
          <p:cNvPr id="3" name="Text Placeholder 2">
            <a:extLst>
              <a:ext uri="{FF2B5EF4-FFF2-40B4-BE49-F238E27FC236}">
                <a16:creationId xmlns:a16="http://schemas.microsoft.com/office/drawing/2014/main" id="{CF2EFD22-B7E3-0ABF-36B1-7FB7FE8A5F8D}"/>
              </a:ext>
            </a:extLst>
          </p:cNvPr>
          <p:cNvSpPr>
            <a:spLocks noGrp="1"/>
          </p:cNvSpPr>
          <p:nvPr>
            <p:ph type="body" idx="1"/>
          </p:nvPr>
        </p:nvSpPr>
        <p:spPr/>
        <p:txBody>
          <a:bodyPr/>
          <a:lstStyle/>
          <a:p>
            <a:r>
              <a:rPr lang="en-US" dirty="0"/>
              <a:t>Informative: add alt text</a:t>
            </a:r>
          </a:p>
        </p:txBody>
      </p:sp>
      <p:pic>
        <p:nvPicPr>
          <p:cNvPr id="7" name="Wheelchair access icon" descr="Wheelchair accessible entrance"/>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1200" y="2362200"/>
            <a:ext cx="1397000" cy="1397000"/>
          </a:xfrm>
          <a:prstGeom prst="rect">
            <a:avLst/>
          </a:prstGeom>
        </p:spPr>
      </p:pic>
      <p:sp>
        <p:nvSpPr>
          <p:cNvPr id="4" name="Content Placeholder 3">
            <a:extLst>
              <a:ext uri="{FF2B5EF4-FFF2-40B4-BE49-F238E27FC236}">
                <a16:creationId xmlns:a16="http://schemas.microsoft.com/office/drawing/2014/main" id="{39880778-8881-5577-20FB-52E704E0EDB7}"/>
              </a:ext>
            </a:extLst>
          </p:cNvPr>
          <p:cNvSpPr>
            <a:spLocks noGrp="1"/>
          </p:cNvSpPr>
          <p:nvPr>
            <p:ph sz="half" idx="2"/>
          </p:nvPr>
        </p:nvSpPr>
        <p:spPr>
          <a:xfrm>
            <a:off x="609600" y="3937000"/>
            <a:ext cx="5384800" cy="2184400"/>
          </a:xfrm>
        </p:spPr>
        <p:txBody>
          <a:bodyPr/>
          <a:lstStyle/>
          <a:p>
            <a:r>
              <a:rPr lang="en-US" dirty="0"/>
              <a:t>Conveys meaning the text does not</a:t>
            </a:r>
          </a:p>
          <a:p>
            <a:r>
              <a:rPr lang="en-US" dirty="0"/>
              <a:t>Alt text: "Wheelchair accessible entrance"</a:t>
            </a:r>
          </a:p>
        </p:txBody>
      </p:sp>
      <p:sp>
        <p:nvSpPr>
          <p:cNvPr id="5" name="Text Placeholder 4">
            <a:extLst>
              <a:ext uri="{FF2B5EF4-FFF2-40B4-BE49-F238E27FC236}">
                <a16:creationId xmlns:a16="http://schemas.microsoft.com/office/drawing/2014/main" id="{7338A087-5594-D4EB-3D0A-8C957D14F3B4}"/>
              </a:ext>
            </a:extLst>
          </p:cNvPr>
          <p:cNvSpPr>
            <a:spLocks noGrp="1"/>
          </p:cNvSpPr>
          <p:nvPr>
            <p:ph type="body" sz="quarter" idx="3"/>
          </p:nvPr>
        </p:nvSpPr>
        <p:spPr/>
        <p:txBody>
          <a:bodyPr/>
          <a:lstStyle/>
          <a:p>
            <a:r>
              <a:rPr lang="en-US" dirty="0"/>
              <a:t>Decorative: mark as decorative</a:t>
            </a:r>
          </a:p>
        </p:txBody>
      </p:sp>
      <p:pic>
        <p:nvPicPr>
          <p:cNvPr id="8" name="Decorative leaf">
            <a:extLs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99200" y="2362200"/>
            <a:ext cx="1397000" cy="1397000"/>
          </a:xfrm>
          <a:prstGeom prst="rect">
            <a:avLst/>
          </a:prstGeom>
        </p:spPr>
      </p:pic>
      <p:sp>
        <p:nvSpPr>
          <p:cNvPr id="6" name="Content Placeholder 5">
            <a:extLst>
              <a:ext uri="{FF2B5EF4-FFF2-40B4-BE49-F238E27FC236}">
                <a16:creationId xmlns:a16="http://schemas.microsoft.com/office/drawing/2014/main" id="{89E8B983-7406-E49D-5DB6-B1C14EB72061}"/>
              </a:ext>
            </a:extLst>
          </p:cNvPr>
          <p:cNvSpPr>
            <a:spLocks noGrp="1"/>
          </p:cNvSpPr>
          <p:nvPr>
            <p:ph sz="quarter" idx="4"/>
          </p:nvPr>
        </p:nvSpPr>
        <p:spPr>
          <a:xfrm>
            <a:off x="6197600" y="3937000"/>
            <a:ext cx="5384800" cy="2184400"/>
          </a:xfrm>
        </p:spPr>
        <p:txBody>
          <a:bodyPr/>
          <a:lstStyle/>
          <a:p>
            <a:r>
              <a:rPr lang="en-US" dirty="0"/>
              <a:t>Adds visual style only</a:t>
            </a:r>
          </a:p>
          <a:p>
            <a:r>
              <a:rPr lang="en-US" dirty="0"/>
              <a:t>Screen readers skip it</a:t>
            </a:r>
          </a:p>
        </p:txBody>
      </p:sp>
    </p:spTree>
    <p:extLst>
      <p:ext uri="{BB962C8B-B14F-4D97-AF65-F5344CB8AC3E}">
        <p14:creationId xmlns:p14="http://schemas.microsoft.com/office/powerpoint/2010/main" val="1095805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32E7E-18FE-DBD0-0AC2-06BCBB4664EC}"/>
              </a:ext>
            </a:extLst>
          </p:cNvPr>
          <p:cNvSpPr>
            <a:spLocks noGrp="1"/>
          </p:cNvSpPr>
          <p:nvPr>
            <p:ph type="title"/>
          </p:nvPr>
        </p:nvSpPr>
        <p:spPr/>
        <p:txBody>
          <a:bodyPr/>
          <a:lstStyle/>
          <a:p>
            <a:r>
              <a:rPr lang="en-US" dirty="0"/>
              <a:t>Example: Status Shown with Color, Icon, and Text</a:t>
            </a:r>
          </a:p>
        </p:txBody>
      </p:sp>
      <p:sp>
        <p:nvSpPr>
          <p:cNvPr id="10" name="Card 1">
            <a:extLst>
              <a:ext uri="{C183D7F6-B498-43B3-948B-1728B52AA6E4}">
                <adec:decorative xmlns:adec="http://schemas.microsoft.com/office/drawing/2017/decorative" val="1"/>
              </a:ext>
            </a:extLst>
          </p:cNvPr>
          <p:cNvSpPr/>
          <p:nvPr/>
        </p:nvSpPr>
        <p:spPr>
          <a:xfrm>
            <a:off x="609600" y="1727200"/>
            <a:ext cx="3454400" cy="3048000"/>
          </a:xfrm>
          <a:prstGeom prst="rect">
            <a:avLst/>
          </a:prstGeom>
          <a:solidFill>
            <a:srgbClr val="FFFFFF"/>
          </a:solidFill>
          <a:ln w="12700">
            <a:solidFill>
              <a:srgbClr val="D0D0D0"/>
            </a:solidFill>
          </a:ln>
        </p:spPr>
        <p:txBody>
          <a:bodyPr/>
          <a:lstStyle/>
          <a:p>
            <a:endParaRPr lang="en-US"/>
          </a:p>
        </p:txBody>
      </p:sp>
      <p:sp>
        <p:nvSpPr>
          <p:cNvPr id="11" name="Card 1 band">
            <a:extLst>
              <a:ext uri="{C183D7F6-B498-43B3-948B-1728B52AA6E4}">
                <adec:decorative xmlns:adec="http://schemas.microsoft.com/office/drawing/2017/decorative" val="1"/>
              </a:ext>
            </a:extLst>
          </p:cNvPr>
          <p:cNvSpPr/>
          <p:nvPr/>
        </p:nvSpPr>
        <p:spPr>
          <a:xfrm>
            <a:off x="609600" y="1727200"/>
            <a:ext cx="3454400" cy="127000"/>
          </a:xfrm>
          <a:prstGeom prst="rect">
            <a:avLst/>
          </a:prstGeom>
          <a:solidFill>
            <a:srgbClr val="0B6E58"/>
          </a:solidFill>
          <a:ln>
            <a:noFill/>
          </a:ln>
        </p:spPr>
        <p:txBody>
          <a:bodyPr/>
          <a:lstStyle/>
          <a:p>
            <a:endParaRPr lang="en-US"/>
          </a:p>
        </p:txBody>
      </p:sp>
      <p:pic>
        <p:nvPicPr>
          <p:cNvPr id="20" name="Status icon 1">
            <a:extLs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3600" y="2082800"/>
            <a:ext cx="711200" cy="711200"/>
          </a:xfrm>
          <a:prstGeom prst="rect">
            <a:avLst/>
          </a:prstGeom>
        </p:spPr>
      </p:pic>
      <p:sp>
        <p:nvSpPr>
          <p:cNvPr id="12" name="Status 1"/>
          <p:cNvSpPr txBox="1"/>
          <p:nvPr/>
        </p:nvSpPr>
        <p:spPr>
          <a:xfrm>
            <a:off x="863600" y="2997200"/>
            <a:ext cx="2946400" cy="1651000"/>
          </a:xfrm>
          <a:prstGeom prst="rect">
            <a:avLst/>
          </a:prstGeom>
          <a:noFill/>
        </p:spPr>
        <p:txBody>
          <a:bodyPr wrap="square" lIns="0" tIns="0" rIns="0" bIns="0" anchor="t">
            <a:noAutofit/>
          </a:bodyPr>
          <a:lstStyle/>
          <a:p>
            <a:r>
              <a:rPr lang="en-US" sz="2800" b="1" dirty="0">
                <a:solidFill>
                  <a:srgbClr val="0B6E58"/>
                </a:solidFill>
              </a:rPr>
              <a:t>On track</a:t>
            </a:r>
          </a:p>
          <a:p>
            <a:r>
              <a:rPr lang="en-US" sz="2400" b="1" dirty="0">
                <a:solidFill>
                  <a:schemeClr val="tx1"/>
                </a:solidFill>
              </a:rPr>
              <a:t>Website redesign</a:t>
            </a:r>
          </a:p>
          <a:p>
            <a:r>
              <a:rPr lang="en-US" sz="2400" dirty="0">
                <a:solidFill>
                  <a:schemeClr val="tx1"/>
                </a:solidFill>
              </a:rPr>
              <a:t>Launches June 12</a:t>
            </a:r>
          </a:p>
        </p:txBody>
      </p:sp>
      <p:sp>
        <p:nvSpPr>
          <p:cNvPr id="13" name="Card 2">
            <a:extLst>
              <a:ext uri="{C183D7F6-B498-43B3-948B-1728B52AA6E4}">
                <adec:decorative xmlns:adec="http://schemas.microsoft.com/office/drawing/2017/decorative" val="1"/>
              </a:ext>
            </a:extLst>
          </p:cNvPr>
          <p:cNvSpPr/>
          <p:nvPr/>
        </p:nvSpPr>
        <p:spPr>
          <a:xfrm>
            <a:off x="4368800" y="1727200"/>
            <a:ext cx="3454400" cy="3048000"/>
          </a:xfrm>
          <a:prstGeom prst="rect">
            <a:avLst/>
          </a:prstGeom>
          <a:solidFill>
            <a:srgbClr val="FFFFFF"/>
          </a:solidFill>
          <a:ln w="12700">
            <a:solidFill>
              <a:srgbClr val="D0D0D0"/>
            </a:solidFill>
          </a:ln>
        </p:spPr>
        <p:txBody>
          <a:bodyPr/>
          <a:lstStyle/>
          <a:p>
            <a:endParaRPr lang="en-US"/>
          </a:p>
        </p:txBody>
      </p:sp>
      <p:sp>
        <p:nvSpPr>
          <p:cNvPr id="14" name="Card 2 band">
            <a:extLst>
              <a:ext uri="{C183D7F6-B498-43B3-948B-1728B52AA6E4}">
                <adec:decorative xmlns:adec="http://schemas.microsoft.com/office/drawing/2017/decorative" val="1"/>
              </a:ext>
            </a:extLst>
          </p:cNvPr>
          <p:cNvSpPr/>
          <p:nvPr/>
        </p:nvSpPr>
        <p:spPr>
          <a:xfrm>
            <a:off x="4368800" y="1727200"/>
            <a:ext cx="3454400" cy="127000"/>
          </a:xfrm>
          <a:prstGeom prst="rect">
            <a:avLst/>
          </a:prstGeom>
          <a:solidFill>
            <a:srgbClr val="8A5A00"/>
          </a:solidFill>
          <a:ln>
            <a:noFill/>
          </a:ln>
        </p:spPr>
        <p:txBody>
          <a:bodyPr/>
          <a:lstStyle/>
          <a:p>
            <a:endParaRPr lang="en-US"/>
          </a:p>
        </p:txBody>
      </p:sp>
      <p:pic>
        <p:nvPicPr>
          <p:cNvPr id="21" name="Status icon 2">
            <a:extLs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22800" y="2082800"/>
            <a:ext cx="711200" cy="711200"/>
          </a:xfrm>
          <a:prstGeom prst="rect">
            <a:avLst/>
          </a:prstGeom>
        </p:spPr>
      </p:pic>
      <p:sp>
        <p:nvSpPr>
          <p:cNvPr id="15" name="Status 2"/>
          <p:cNvSpPr txBox="1"/>
          <p:nvPr/>
        </p:nvSpPr>
        <p:spPr>
          <a:xfrm>
            <a:off x="4622800" y="2997200"/>
            <a:ext cx="2946400" cy="1651000"/>
          </a:xfrm>
          <a:prstGeom prst="rect">
            <a:avLst/>
          </a:prstGeom>
          <a:noFill/>
        </p:spPr>
        <p:txBody>
          <a:bodyPr wrap="square" lIns="0" tIns="0" rIns="0" bIns="0" anchor="t">
            <a:noAutofit/>
          </a:bodyPr>
          <a:lstStyle/>
          <a:p>
            <a:r>
              <a:rPr lang="en-US" sz="2800" b="1" dirty="0">
                <a:solidFill>
                  <a:srgbClr val="8A5A00"/>
                </a:solidFill>
              </a:rPr>
              <a:t>At risk</a:t>
            </a:r>
          </a:p>
          <a:p>
            <a:r>
              <a:rPr lang="en-US" sz="2400" b="1" dirty="0">
                <a:solidFill>
                  <a:schemeClr val="tx1"/>
                </a:solidFill>
              </a:rPr>
              <a:t>Mobile app</a:t>
            </a:r>
          </a:p>
          <a:p>
            <a:r>
              <a:rPr lang="en-US" sz="2400" dirty="0">
                <a:solidFill>
                  <a:schemeClr val="tx1"/>
                </a:solidFill>
              </a:rPr>
              <a:t>Two weeks behind</a:t>
            </a:r>
          </a:p>
        </p:txBody>
      </p:sp>
      <p:sp>
        <p:nvSpPr>
          <p:cNvPr id="16" name="Card 3">
            <a:extLst>
              <a:ext uri="{C183D7F6-B498-43B3-948B-1728B52AA6E4}">
                <adec:decorative xmlns:adec="http://schemas.microsoft.com/office/drawing/2017/decorative" val="1"/>
              </a:ext>
            </a:extLst>
          </p:cNvPr>
          <p:cNvSpPr/>
          <p:nvPr/>
        </p:nvSpPr>
        <p:spPr>
          <a:xfrm>
            <a:off x="8128000" y="1727200"/>
            <a:ext cx="3454400" cy="3048000"/>
          </a:xfrm>
          <a:prstGeom prst="rect">
            <a:avLst/>
          </a:prstGeom>
          <a:solidFill>
            <a:srgbClr val="FFFFFF"/>
          </a:solidFill>
          <a:ln w="12700">
            <a:solidFill>
              <a:srgbClr val="D0D0D0"/>
            </a:solidFill>
          </a:ln>
        </p:spPr>
        <p:txBody>
          <a:bodyPr/>
          <a:lstStyle/>
          <a:p>
            <a:endParaRPr lang="en-US"/>
          </a:p>
        </p:txBody>
      </p:sp>
      <p:sp>
        <p:nvSpPr>
          <p:cNvPr id="17" name="Card 3 band">
            <a:extLst>
              <a:ext uri="{C183D7F6-B498-43B3-948B-1728B52AA6E4}">
                <adec:decorative xmlns:adec="http://schemas.microsoft.com/office/drawing/2017/decorative" val="1"/>
              </a:ext>
            </a:extLst>
          </p:cNvPr>
          <p:cNvSpPr/>
          <p:nvPr/>
        </p:nvSpPr>
        <p:spPr>
          <a:xfrm>
            <a:off x="8128000" y="1727200"/>
            <a:ext cx="3454400" cy="127000"/>
          </a:xfrm>
          <a:prstGeom prst="rect">
            <a:avLst/>
          </a:prstGeom>
          <a:solidFill>
            <a:srgbClr val="A23B1E"/>
          </a:solidFill>
          <a:ln>
            <a:noFill/>
          </a:ln>
        </p:spPr>
        <p:txBody>
          <a:bodyPr/>
          <a:lstStyle/>
          <a:p>
            <a:endParaRPr lang="en-US"/>
          </a:p>
        </p:txBody>
      </p:sp>
      <p:pic>
        <p:nvPicPr>
          <p:cNvPr id="22" name="Status icon 3">
            <a:extLs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82000" y="2082800"/>
            <a:ext cx="711200" cy="711200"/>
          </a:xfrm>
          <a:prstGeom prst="rect">
            <a:avLst/>
          </a:prstGeom>
        </p:spPr>
      </p:pic>
      <p:sp>
        <p:nvSpPr>
          <p:cNvPr id="18" name="Status 3"/>
          <p:cNvSpPr txBox="1"/>
          <p:nvPr/>
        </p:nvSpPr>
        <p:spPr>
          <a:xfrm>
            <a:off x="8382000" y="2997200"/>
            <a:ext cx="2946400" cy="1651000"/>
          </a:xfrm>
          <a:prstGeom prst="rect">
            <a:avLst/>
          </a:prstGeom>
          <a:noFill/>
        </p:spPr>
        <p:txBody>
          <a:bodyPr wrap="square" lIns="0" tIns="0" rIns="0" bIns="0" anchor="t">
            <a:noAutofit/>
          </a:bodyPr>
          <a:lstStyle/>
          <a:p>
            <a:r>
              <a:rPr lang="en-US" sz="2800" b="1" dirty="0">
                <a:solidFill>
                  <a:srgbClr val="A23B1E"/>
                </a:solidFill>
              </a:rPr>
              <a:t>Blocked</a:t>
            </a:r>
          </a:p>
          <a:p>
            <a:r>
              <a:rPr lang="en-US" sz="2400" b="1" dirty="0">
                <a:solidFill>
                  <a:schemeClr val="tx1"/>
                </a:solidFill>
              </a:rPr>
              <a:t>Data migration</a:t>
            </a:r>
          </a:p>
          <a:p>
            <a:r>
              <a:rPr lang="en-US" sz="2400" dirty="0">
                <a:solidFill>
                  <a:schemeClr val="tx1"/>
                </a:solidFill>
              </a:rPr>
              <a:t>Waiting on vendor</a:t>
            </a:r>
          </a:p>
        </p:txBody>
      </p:sp>
      <p:sp>
        <p:nvSpPr>
          <p:cNvPr id="19" name="Caption"/>
          <p:cNvSpPr txBox="1"/>
          <p:nvPr/>
        </p:nvSpPr>
        <p:spPr>
          <a:xfrm>
            <a:off x="609600" y="5080000"/>
            <a:ext cx="10972800" cy="508000"/>
          </a:xfrm>
          <a:prstGeom prst="rect">
            <a:avLst/>
          </a:prstGeom>
          <a:noFill/>
        </p:spPr>
        <p:txBody>
          <a:bodyPr wrap="square" lIns="0" tIns="0" rIns="0" bIns="0" anchor="t">
            <a:noAutofit/>
          </a:bodyPr>
          <a:lstStyle/>
          <a:p>
            <a:r>
              <a:rPr lang="en-US" sz="2400" dirty="0">
                <a:solidFill>
                  <a:schemeClr val="tx1"/>
                </a:solidFill>
              </a:rPr>
              <a:t>Each status pairs its color with an icon and a text label.</a:t>
            </a:r>
          </a:p>
        </p:txBody>
      </p:sp>
    </p:spTree>
    <p:extLst>
      <p:ext uri="{BB962C8B-B14F-4D97-AF65-F5344CB8AC3E}">
        <p14:creationId xmlns:p14="http://schemas.microsoft.com/office/powerpoint/2010/main" val="133889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FC482-1064-45CB-D53D-4D94BA7534A6}"/>
              </a:ext>
            </a:extLst>
          </p:cNvPr>
          <p:cNvSpPr>
            <a:spLocks noGrp="1"/>
          </p:cNvSpPr>
          <p:nvPr>
            <p:ph type="title"/>
          </p:nvPr>
        </p:nvSpPr>
        <p:spPr/>
        <p:txBody>
          <a:bodyPr/>
          <a:lstStyle/>
          <a:p>
            <a:r>
              <a:rPr lang="en-US" dirty="0"/>
              <a:t>Example Diagram: Accessible Process Flow</a:t>
            </a:r>
          </a:p>
        </p:txBody>
      </p:sp>
      <p:grpSp>
        <p:nvGrpSpPr>
          <p:cNvPr id="21" name="Process flow diagram" descr="Four-step process flow: 1. Plan, start from built-in layouts. 2. Create, add alt text and captions. 3. Check, run Check Accessibility. 4. Share, send slides in advance."/>
          <p:cNvGrpSpPr/>
          <p:nvPr/>
        </p:nvGrpSpPr>
        <p:grpSpPr>
          <a:xfrm>
            <a:off x="609600" y="1905000"/>
            <a:ext cx="10972800" cy="3124200"/>
            <a:chOff x="609600" y="1905000"/>
            <a:chExt cx="10972800" cy="3124200"/>
          </a:xfrm>
        </p:grpSpPr>
        <p:sp>
          <p:nvSpPr>
            <p:cNvPr id="10" name="Step 1 box"/>
            <p:cNvSpPr/>
            <p:nvPr/>
          </p:nvSpPr>
          <p:spPr>
            <a:xfrm>
              <a:off x="609600" y="1905000"/>
              <a:ext cx="2286000" cy="1270000"/>
            </a:xfrm>
            <a:prstGeom prst="roundRect">
              <a:avLst/>
            </a:prstGeom>
            <a:solidFill>
              <a:srgbClr val="084A3B"/>
            </a:solidFill>
            <a:ln>
              <a:noFill/>
            </a:ln>
          </p:spPr>
          <p:txBody>
            <a:bodyPr wrap="square" lIns="101600" tIns="0" rIns="101600" bIns="0" anchor="ctr">
              <a:noAutofit/>
            </a:bodyPr>
            <a:lstStyle/>
            <a:p>
              <a:pPr algn="ctr"/>
              <a:r>
                <a:rPr lang="en-US" sz="2800" b="1" dirty="0">
                  <a:solidFill>
                    <a:srgbClr val="FFFFFF"/>
                  </a:solidFill>
                </a:rPr>
                <a:t>1. Plan</a:t>
              </a:r>
            </a:p>
          </p:txBody>
        </p:sp>
        <p:sp>
          <p:nvSpPr>
            <p:cNvPr id="11" name="Step 1 detail"/>
            <p:cNvSpPr/>
            <p:nvPr/>
          </p:nvSpPr>
          <p:spPr>
            <a:xfrm>
              <a:off x="609600" y="3378200"/>
              <a:ext cx="2286000" cy="1651000"/>
            </a:xfrm>
            <a:prstGeom prst="rect">
              <a:avLst/>
            </a:prstGeom>
            <a:noFill/>
            <a:ln>
              <a:noFill/>
            </a:ln>
          </p:spPr>
          <p:txBody>
            <a:bodyPr wrap="square" lIns="0" tIns="0" rIns="0" bIns="0" anchor="t">
              <a:noAutofit/>
            </a:bodyPr>
            <a:lstStyle/>
            <a:p>
              <a:pPr algn="ctr"/>
              <a:r>
                <a:rPr lang="en-US" sz="2400" dirty="0">
                  <a:solidFill>
                    <a:schemeClr val="tx1"/>
                  </a:solidFill>
                </a:rPr>
                <a:t>Start from built-in layouts</a:t>
              </a:r>
            </a:p>
          </p:txBody>
        </p:sp>
        <p:sp>
          <p:nvSpPr>
            <p:cNvPr id="12" name="Arrow 1">
              <a:extLst>
                <a:ext uri="{C183D7F6-B498-43B3-948B-1728B52AA6E4}">
                  <adec:decorative xmlns:adec="http://schemas.microsoft.com/office/drawing/2017/decorative" val="1"/>
                </a:ext>
              </a:extLst>
            </p:cNvPr>
            <p:cNvSpPr/>
            <p:nvPr/>
          </p:nvSpPr>
          <p:spPr>
            <a:xfrm>
              <a:off x="2997200" y="2362200"/>
              <a:ext cx="406400" cy="355600"/>
            </a:xfrm>
            <a:prstGeom prst="rightArrow">
              <a:avLst/>
            </a:prstGeom>
            <a:solidFill>
              <a:srgbClr val="4D4D4D"/>
            </a:solidFill>
            <a:ln>
              <a:noFill/>
            </a:ln>
          </p:spPr>
          <p:txBody>
            <a:bodyPr/>
            <a:lstStyle/>
            <a:p>
              <a:endParaRPr lang="en-US"/>
            </a:p>
          </p:txBody>
        </p:sp>
        <p:sp>
          <p:nvSpPr>
            <p:cNvPr id="13" name="Step 2 box"/>
            <p:cNvSpPr/>
            <p:nvPr/>
          </p:nvSpPr>
          <p:spPr>
            <a:xfrm>
              <a:off x="3505200" y="1905000"/>
              <a:ext cx="2286000" cy="1270000"/>
            </a:xfrm>
            <a:prstGeom prst="roundRect">
              <a:avLst/>
            </a:prstGeom>
            <a:solidFill>
              <a:srgbClr val="084A3B"/>
            </a:solidFill>
            <a:ln>
              <a:noFill/>
            </a:ln>
          </p:spPr>
          <p:txBody>
            <a:bodyPr wrap="square" lIns="101600" tIns="0" rIns="101600" bIns="0" anchor="ctr">
              <a:noAutofit/>
            </a:bodyPr>
            <a:lstStyle/>
            <a:p>
              <a:pPr algn="ctr"/>
              <a:r>
                <a:rPr lang="en-US" sz="2800" b="1" dirty="0">
                  <a:solidFill>
                    <a:srgbClr val="FFFFFF"/>
                  </a:solidFill>
                </a:rPr>
                <a:t>2. Create</a:t>
              </a:r>
            </a:p>
          </p:txBody>
        </p:sp>
        <p:sp>
          <p:nvSpPr>
            <p:cNvPr id="14" name="Step 2 detail"/>
            <p:cNvSpPr/>
            <p:nvPr/>
          </p:nvSpPr>
          <p:spPr>
            <a:xfrm>
              <a:off x="3505200" y="3378200"/>
              <a:ext cx="2286000" cy="1651000"/>
            </a:xfrm>
            <a:prstGeom prst="rect">
              <a:avLst/>
            </a:prstGeom>
            <a:noFill/>
            <a:ln>
              <a:noFill/>
            </a:ln>
          </p:spPr>
          <p:txBody>
            <a:bodyPr wrap="square" lIns="0" tIns="0" rIns="0" bIns="0" anchor="t">
              <a:noAutofit/>
            </a:bodyPr>
            <a:lstStyle/>
            <a:p>
              <a:pPr algn="ctr"/>
              <a:r>
                <a:rPr lang="en-US" sz="2400" dirty="0">
                  <a:solidFill>
                    <a:schemeClr val="tx1"/>
                  </a:solidFill>
                </a:rPr>
                <a:t>Add alt text and captions</a:t>
              </a:r>
            </a:p>
          </p:txBody>
        </p:sp>
        <p:sp>
          <p:nvSpPr>
            <p:cNvPr id="15" name="Arrow 2">
              <a:extLst>
                <a:ext uri="{C183D7F6-B498-43B3-948B-1728B52AA6E4}">
                  <adec:decorative xmlns:adec="http://schemas.microsoft.com/office/drawing/2017/decorative" val="1"/>
                </a:ext>
              </a:extLst>
            </p:cNvPr>
            <p:cNvSpPr/>
            <p:nvPr/>
          </p:nvSpPr>
          <p:spPr>
            <a:xfrm>
              <a:off x="5892800" y="2362200"/>
              <a:ext cx="406400" cy="355600"/>
            </a:xfrm>
            <a:prstGeom prst="rightArrow">
              <a:avLst/>
            </a:prstGeom>
            <a:solidFill>
              <a:srgbClr val="4D4D4D"/>
            </a:solidFill>
            <a:ln>
              <a:noFill/>
            </a:ln>
          </p:spPr>
          <p:txBody>
            <a:bodyPr/>
            <a:lstStyle/>
            <a:p>
              <a:endParaRPr lang="en-US"/>
            </a:p>
          </p:txBody>
        </p:sp>
        <p:sp>
          <p:nvSpPr>
            <p:cNvPr id="16" name="Step 3 box"/>
            <p:cNvSpPr/>
            <p:nvPr/>
          </p:nvSpPr>
          <p:spPr>
            <a:xfrm>
              <a:off x="6400800" y="1905000"/>
              <a:ext cx="2286000" cy="1270000"/>
            </a:xfrm>
            <a:prstGeom prst="roundRect">
              <a:avLst/>
            </a:prstGeom>
            <a:solidFill>
              <a:srgbClr val="084A3B"/>
            </a:solidFill>
            <a:ln>
              <a:noFill/>
            </a:ln>
          </p:spPr>
          <p:txBody>
            <a:bodyPr wrap="square" lIns="101600" tIns="0" rIns="101600" bIns="0" anchor="ctr">
              <a:noAutofit/>
            </a:bodyPr>
            <a:lstStyle/>
            <a:p>
              <a:pPr algn="ctr"/>
              <a:r>
                <a:rPr lang="en-US" sz="2800" b="1" dirty="0">
                  <a:solidFill>
                    <a:srgbClr val="FFFFFF"/>
                  </a:solidFill>
                </a:rPr>
                <a:t>3. Check</a:t>
              </a:r>
            </a:p>
          </p:txBody>
        </p:sp>
        <p:sp>
          <p:nvSpPr>
            <p:cNvPr id="17" name="Step 3 detail"/>
            <p:cNvSpPr/>
            <p:nvPr/>
          </p:nvSpPr>
          <p:spPr>
            <a:xfrm>
              <a:off x="6400800" y="3378200"/>
              <a:ext cx="2286000" cy="1651000"/>
            </a:xfrm>
            <a:prstGeom prst="rect">
              <a:avLst/>
            </a:prstGeom>
            <a:noFill/>
            <a:ln>
              <a:noFill/>
            </a:ln>
          </p:spPr>
          <p:txBody>
            <a:bodyPr wrap="square" lIns="0" tIns="0" rIns="0" bIns="0" anchor="t">
              <a:noAutofit/>
            </a:bodyPr>
            <a:lstStyle/>
            <a:p>
              <a:pPr algn="ctr"/>
              <a:r>
                <a:rPr lang="en-US" sz="2400" dirty="0">
                  <a:solidFill>
                    <a:schemeClr val="tx1"/>
                  </a:solidFill>
                </a:rPr>
                <a:t>Run Check Accessibility</a:t>
              </a:r>
            </a:p>
          </p:txBody>
        </p:sp>
        <p:sp>
          <p:nvSpPr>
            <p:cNvPr id="18" name="Arrow 3">
              <a:extLst>
                <a:ext uri="{C183D7F6-B498-43B3-948B-1728B52AA6E4}">
                  <adec:decorative xmlns:adec="http://schemas.microsoft.com/office/drawing/2017/decorative" val="1"/>
                </a:ext>
              </a:extLst>
            </p:cNvPr>
            <p:cNvSpPr/>
            <p:nvPr/>
          </p:nvSpPr>
          <p:spPr>
            <a:xfrm>
              <a:off x="8788400" y="2362200"/>
              <a:ext cx="406400" cy="355600"/>
            </a:xfrm>
            <a:prstGeom prst="rightArrow">
              <a:avLst/>
            </a:prstGeom>
            <a:solidFill>
              <a:srgbClr val="4D4D4D"/>
            </a:solidFill>
            <a:ln>
              <a:noFill/>
            </a:ln>
          </p:spPr>
          <p:txBody>
            <a:bodyPr/>
            <a:lstStyle/>
            <a:p>
              <a:endParaRPr lang="en-US"/>
            </a:p>
          </p:txBody>
        </p:sp>
        <p:sp>
          <p:nvSpPr>
            <p:cNvPr id="19" name="Step 4 box"/>
            <p:cNvSpPr/>
            <p:nvPr/>
          </p:nvSpPr>
          <p:spPr>
            <a:xfrm>
              <a:off x="9296400" y="1905000"/>
              <a:ext cx="2286000" cy="1270000"/>
            </a:xfrm>
            <a:prstGeom prst="roundRect">
              <a:avLst/>
            </a:prstGeom>
            <a:solidFill>
              <a:srgbClr val="084A3B"/>
            </a:solidFill>
            <a:ln>
              <a:noFill/>
            </a:ln>
          </p:spPr>
          <p:txBody>
            <a:bodyPr wrap="square" lIns="101600" tIns="0" rIns="101600" bIns="0" anchor="ctr">
              <a:noAutofit/>
            </a:bodyPr>
            <a:lstStyle/>
            <a:p>
              <a:pPr algn="ctr"/>
              <a:r>
                <a:rPr lang="en-US" sz="2800" b="1" dirty="0">
                  <a:solidFill>
                    <a:srgbClr val="FFFFFF"/>
                  </a:solidFill>
                </a:rPr>
                <a:t>4. Share</a:t>
              </a:r>
            </a:p>
          </p:txBody>
        </p:sp>
        <p:sp>
          <p:nvSpPr>
            <p:cNvPr id="20" name="Step 4 detail"/>
            <p:cNvSpPr/>
            <p:nvPr/>
          </p:nvSpPr>
          <p:spPr>
            <a:xfrm>
              <a:off x="9296400" y="3378200"/>
              <a:ext cx="2286000" cy="1651000"/>
            </a:xfrm>
            <a:prstGeom prst="rect">
              <a:avLst/>
            </a:prstGeom>
            <a:noFill/>
            <a:ln>
              <a:noFill/>
            </a:ln>
          </p:spPr>
          <p:txBody>
            <a:bodyPr wrap="square" lIns="0" tIns="0" rIns="0" bIns="0" anchor="t">
              <a:noAutofit/>
            </a:bodyPr>
            <a:lstStyle/>
            <a:p>
              <a:pPr algn="ctr"/>
              <a:r>
                <a:rPr lang="en-US" sz="2400" dirty="0">
                  <a:solidFill>
                    <a:schemeClr val="tx1"/>
                  </a:solidFill>
                </a:rPr>
                <a:t>Send slides in advance</a:t>
              </a:r>
            </a:p>
          </p:txBody>
        </p:sp>
      </p:grpSp>
      <p:sp>
        <p:nvSpPr>
          <p:cNvPr id="22" name="Caption"/>
          <p:cNvSpPr txBox="1"/>
          <p:nvPr/>
        </p:nvSpPr>
        <p:spPr>
          <a:xfrm>
            <a:off x="609600" y="5130800"/>
            <a:ext cx="10972800" cy="889000"/>
          </a:xfrm>
          <a:prstGeom prst="rect">
            <a:avLst/>
          </a:prstGeom>
          <a:noFill/>
        </p:spPr>
        <p:txBody>
          <a:bodyPr wrap="square" lIns="0" tIns="0" rIns="0" bIns="0">
            <a:noAutofit/>
          </a:bodyPr>
          <a:lstStyle/>
          <a:p>
            <a:r>
              <a:rPr lang="en-US" sz="2400" dirty="0">
                <a:solidFill>
                  <a:schemeClr val="tx1"/>
                </a:solidFill>
              </a:rPr>
              <a:t>Steps are real text in reading order, arrows are marked decorative, and the group has one alt text summary.</a:t>
            </a:r>
          </a:p>
        </p:txBody>
      </p:sp>
    </p:spTree>
    <p:extLst>
      <p:ext uri="{BB962C8B-B14F-4D97-AF65-F5344CB8AC3E}">
        <p14:creationId xmlns:p14="http://schemas.microsoft.com/office/powerpoint/2010/main" val="1182441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76B12-9E7E-5E42-5A81-17D42E2BA00F}"/>
              </a:ext>
            </a:extLst>
          </p:cNvPr>
          <p:cNvSpPr>
            <a:spLocks noGrp="1"/>
          </p:cNvSpPr>
          <p:nvPr>
            <p:ph type="title"/>
          </p:nvPr>
        </p:nvSpPr>
        <p:spPr/>
        <p:txBody>
          <a:bodyPr/>
          <a:lstStyle/>
          <a:p>
            <a:r>
              <a:rPr lang="en-US" dirty="0"/>
              <a:t>Example: Accessible Video</a:t>
            </a:r>
          </a:p>
        </p:txBody>
      </p:sp>
      <p:pic>
        <p:nvPicPr>
          <p:cNvPr id="6" name="Video 5" descr="Aerial view of waves washing onto a black sand beach. No audio.">
            <a:hlinkClick r:id="" action="ppaction://media"/>
            <a:extLst>
              <a:ext uri="{FF2B5EF4-FFF2-40B4-BE49-F238E27FC236}">
                <a16:creationId xmlns:a16="http://schemas.microsoft.com/office/drawing/2014/main" id="{35174B6F-6206-8B1E-5BAD-053F786CBAF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09600" y="2346325"/>
            <a:ext cx="5384800" cy="3028950"/>
          </a:xfrm>
          <a:prstGeom prst="rect">
            <a:avLst/>
          </a:prstGeom>
        </p:spPr>
      </p:pic>
      <p:sp>
        <p:nvSpPr>
          <p:cNvPr id="4" name="Content Placeholder 3">
            <a:extLst>
              <a:ext uri="{FF2B5EF4-FFF2-40B4-BE49-F238E27FC236}">
                <a16:creationId xmlns:a16="http://schemas.microsoft.com/office/drawing/2014/main" id="{439D8F1D-BADB-6C9B-CB45-F570427D0831}"/>
              </a:ext>
            </a:extLst>
          </p:cNvPr>
          <p:cNvSpPr>
            <a:spLocks noGrp="1"/>
          </p:cNvSpPr>
          <p:nvPr>
            <p:ph sz="half" idx="2"/>
          </p:nvPr>
        </p:nvSpPr>
        <p:spPr/>
        <p:txBody>
          <a:bodyPr>
            <a:normAutofit/>
          </a:bodyPr>
          <a:lstStyle/>
          <a:p>
            <a:r>
              <a:rPr lang="en-US" b="1" dirty="0"/>
              <a:t>Describe it in alt text: </a:t>
            </a:r>
            <a:r>
              <a:rPr lang="en-US" dirty="0"/>
              <a:t>a silent clip needs no captions</a:t>
            </a:r>
          </a:p>
          <a:p>
            <a:r>
              <a:rPr lang="en-US" b="1" dirty="0"/>
              <a:t>Caption any audio: </a:t>
            </a:r>
            <a:r>
              <a:rPr lang="en-US" dirty="0"/>
              <a:t>add a .vtt file with Insert Captions</a:t>
            </a:r>
          </a:p>
          <a:p>
            <a:r>
              <a:rPr lang="en-US" b="1" dirty="0"/>
              <a:t>Start on click: </a:t>
            </a:r>
            <a:r>
              <a:rPr lang="en-US" dirty="0"/>
              <a:t>choose On Click under Playback &gt; Start</a:t>
            </a:r>
          </a:p>
          <a:p>
            <a:r>
              <a:rPr lang="en-US" b="1" dirty="0"/>
              <a:t>Avoid flashing: </a:t>
            </a:r>
            <a:r>
              <a:rPr lang="en-US" dirty="0"/>
              <a:t>no more than three per second</a:t>
            </a:r>
          </a:p>
        </p:txBody>
      </p:sp>
    </p:spTree>
    <p:extLst>
      <p:ext uri="{BB962C8B-B14F-4D97-AF65-F5344CB8AC3E}">
        <p14:creationId xmlns:p14="http://schemas.microsoft.com/office/powerpoint/2010/main" val="345255670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vol="80000" mute="1">
                <p:cTn id="7" repeatCount="indefinite" fill="hold" display="0">
                  <p:stCondLst>
                    <p:cond delay="indefinite"/>
                  </p:stCondLst>
                </p:cTn>
                <p:tgtEl>
                  <p:spTgt spid="6"/>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Presenting Inclusively</a:t>
            </a:r>
          </a:p>
        </p:txBody>
      </p:sp>
      <p:sp>
        <p:nvSpPr>
          <p:cNvPr id="3" name="Content Placeholder 2"/>
          <p:cNvSpPr>
            <a:spLocks noGrp="1"/>
          </p:cNvSpPr>
          <p:nvPr>
            <p:ph sz="half" idx="1"/>
          </p:nvPr>
        </p:nvSpPr>
        <p:spPr/>
        <p:txBody>
          <a:bodyPr/>
          <a:lstStyle/>
          <a:p>
            <a:r>
              <a:rPr lang="en-US"/>
              <a:t>Share slides in advance</a:t>
            </a:r>
          </a:p>
          <a:p>
            <a:r>
              <a:rPr lang="en-US"/>
              <a:t>Turn on live captions</a:t>
            </a:r>
          </a:p>
          <a:p>
            <a:r>
              <a:rPr lang="en-US"/>
              <a:t>Speak clearly and face the audience</a:t>
            </a:r>
          </a:p>
        </p:txBody>
      </p:sp>
      <p:sp>
        <p:nvSpPr>
          <p:cNvPr id="4" name="Content Placeholder 3"/>
          <p:cNvSpPr>
            <a:spLocks noGrp="1"/>
          </p:cNvSpPr>
          <p:nvPr>
            <p:ph sz="half" idx="2"/>
          </p:nvPr>
        </p:nvSpPr>
        <p:spPr/>
        <p:txBody>
          <a:bodyPr/>
          <a:lstStyle/>
          <a:p>
            <a:r>
              <a:rPr lang="en-US"/>
              <a:t>Describe charts and images aloud</a:t>
            </a:r>
          </a:p>
          <a:p>
            <a:r>
              <a:rPr lang="en-US"/>
              <a:t>Repeat audience questions</a:t>
            </a:r>
          </a:p>
          <a:p>
            <a:r>
              <a:rPr lang="en-US"/>
              <a:t>Avoid auto-advancing slides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11904-E958-283C-AEA8-8AEC0153DC00}"/>
              </a:ext>
            </a:extLst>
          </p:cNvPr>
          <p:cNvSpPr>
            <a:spLocks noGrp="1"/>
          </p:cNvSpPr>
          <p:nvPr>
            <p:ph type="title"/>
          </p:nvPr>
        </p:nvSpPr>
        <p:spPr/>
        <p:txBody>
          <a:bodyPr/>
          <a:lstStyle/>
          <a:p>
            <a:r>
              <a:rPr lang="en-US" dirty="0"/>
              <a:t>Before You Share</a:t>
            </a:r>
          </a:p>
        </p:txBody>
      </p:sp>
      <p:sp>
        <p:nvSpPr>
          <p:cNvPr id="3" name="Text Placeholder 2">
            <a:extLst>
              <a:ext uri="{FF2B5EF4-FFF2-40B4-BE49-F238E27FC236}">
                <a16:creationId xmlns:a16="http://schemas.microsoft.com/office/drawing/2014/main" id="{DF50138E-79B4-5CC6-CAD7-FFE2BCE2DA1C}"/>
              </a:ext>
            </a:extLst>
          </p:cNvPr>
          <p:cNvSpPr>
            <a:spLocks noGrp="1"/>
          </p:cNvSpPr>
          <p:nvPr>
            <p:ph type="body" idx="1"/>
          </p:nvPr>
        </p:nvSpPr>
        <p:spPr/>
        <p:txBody>
          <a:bodyPr/>
          <a:lstStyle/>
          <a:p>
            <a:r>
              <a:rPr lang="en-US" dirty="0"/>
              <a:t>Check the slides</a:t>
            </a:r>
          </a:p>
        </p:txBody>
      </p:sp>
      <p:sp>
        <p:nvSpPr>
          <p:cNvPr id="4" name="Content Placeholder 3">
            <a:extLst>
              <a:ext uri="{FF2B5EF4-FFF2-40B4-BE49-F238E27FC236}">
                <a16:creationId xmlns:a16="http://schemas.microsoft.com/office/drawing/2014/main" id="{7C3CA27F-8B9C-2F3C-3D19-6B85D68C0C3F}"/>
              </a:ext>
            </a:extLst>
          </p:cNvPr>
          <p:cNvSpPr>
            <a:spLocks noGrp="1"/>
          </p:cNvSpPr>
          <p:nvPr>
            <p:ph sz="half" idx="2"/>
          </p:nvPr>
        </p:nvSpPr>
        <p:spPr/>
        <p:txBody>
          <a:bodyPr/>
          <a:lstStyle/>
          <a:p>
            <a:r>
              <a:rPr lang="en-US" dirty="0"/>
              <a:t>Run Review &gt; Check Accessibility</a:t>
            </a:r>
          </a:p>
          <a:p>
            <a:r>
              <a:rPr lang="en-US" dirty="0"/>
              <a:t>Review the Reading Order Pane</a:t>
            </a:r>
          </a:p>
          <a:p>
            <a:r>
              <a:rPr lang="en-US" dirty="0"/>
              <a:t>Confirm every slide has a unique title</a:t>
            </a:r>
          </a:p>
          <a:p>
            <a:r>
              <a:rPr lang="en-US" dirty="0"/>
              <a:t>Describe links by destination</a:t>
            </a:r>
          </a:p>
        </p:txBody>
      </p:sp>
      <p:sp>
        <p:nvSpPr>
          <p:cNvPr id="5" name="Text Placeholder 4">
            <a:extLst>
              <a:ext uri="{FF2B5EF4-FFF2-40B4-BE49-F238E27FC236}">
                <a16:creationId xmlns:a16="http://schemas.microsoft.com/office/drawing/2014/main" id="{5DFF54C2-CF08-3B5E-D666-55D33ED46522}"/>
              </a:ext>
            </a:extLst>
          </p:cNvPr>
          <p:cNvSpPr>
            <a:spLocks noGrp="1"/>
          </p:cNvSpPr>
          <p:nvPr>
            <p:ph type="body" sz="quarter" idx="3"/>
          </p:nvPr>
        </p:nvSpPr>
        <p:spPr/>
        <p:txBody>
          <a:bodyPr/>
          <a:lstStyle/>
          <a:p>
            <a:r>
              <a:rPr lang="en-US" dirty="0"/>
              <a:t>Check the file</a:t>
            </a:r>
          </a:p>
        </p:txBody>
      </p:sp>
      <p:sp>
        <p:nvSpPr>
          <p:cNvPr id="6" name="Content Placeholder 5">
            <a:extLst>
              <a:ext uri="{FF2B5EF4-FFF2-40B4-BE49-F238E27FC236}">
                <a16:creationId xmlns:a16="http://schemas.microsoft.com/office/drawing/2014/main" id="{C9657728-C75E-1D13-CDCD-3261210B47C4}"/>
              </a:ext>
            </a:extLst>
          </p:cNvPr>
          <p:cNvSpPr>
            <a:spLocks noGrp="1"/>
          </p:cNvSpPr>
          <p:nvPr>
            <p:ph sz="quarter" idx="4"/>
          </p:nvPr>
        </p:nvSpPr>
        <p:spPr/>
        <p:txBody>
          <a:bodyPr/>
          <a:lstStyle/>
          <a:p>
            <a:r>
              <a:rPr lang="en-US" dirty="0"/>
              <a:t>Set the file’s Title property</a:t>
            </a:r>
          </a:p>
          <a:p>
            <a:r>
              <a:rPr lang="en-US" dirty="0"/>
              <a:t>Compress media to cut file size</a:t>
            </a:r>
          </a:p>
          <a:p>
            <a:r>
              <a:rPr lang="en-US" dirty="0"/>
              <a:t>Export PDFs with accessibility tags</a:t>
            </a:r>
          </a:p>
          <a:p>
            <a:r>
              <a:rPr lang="en-US" dirty="0"/>
              <a:t>Delete the instruction slides</a:t>
            </a:r>
          </a:p>
        </p:txBody>
      </p:sp>
    </p:spTree>
    <p:extLst>
      <p:ext uri="{BB962C8B-B14F-4D97-AF65-F5344CB8AC3E}">
        <p14:creationId xmlns:p14="http://schemas.microsoft.com/office/powerpoint/2010/main" val="3619893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4DD33-8E45-69FC-7D4E-BEDCF02E573E}"/>
              </a:ext>
            </a:extLst>
          </p:cNvPr>
          <p:cNvSpPr>
            <a:spLocks noGrp="1"/>
          </p:cNvSpPr>
          <p:nvPr>
            <p:ph type="title"/>
          </p:nvPr>
        </p:nvSpPr>
        <p:spPr/>
        <p:txBody>
          <a:bodyPr/>
          <a:lstStyle/>
          <a:p>
            <a:r>
              <a:rPr lang="en-US" dirty="0"/>
              <a:t>Exporting an Accessible PDF</a:t>
            </a:r>
          </a:p>
        </p:txBody>
      </p:sp>
      <p:sp>
        <p:nvSpPr>
          <p:cNvPr id="3" name="Content Placeholder 2">
            <a:extLst>
              <a:ext uri="{FF2B5EF4-FFF2-40B4-BE49-F238E27FC236}">
                <a16:creationId xmlns:a16="http://schemas.microsoft.com/office/drawing/2014/main" id="{69C4CE7A-A485-52CD-6EC7-57C196D1EB3B}"/>
              </a:ext>
            </a:extLst>
          </p:cNvPr>
          <p:cNvSpPr>
            <a:spLocks noGrp="1"/>
          </p:cNvSpPr>
          <p:nvPr>
            <p:ph idx="1"/>
          </p:nvPr>
        </p:nvSpPr>
        <p:spPr/>
        <p:txBody>
          <a:bodyPr/>
          <a:lstStyle/>
          <a:p>
            <a:r>
              <a:rPr lang="en-US" b="1" dirty="0"/>
              <a:t>Windows: </a:t>
            </a:r>
            <a:r>
              <a:rPr lang="en-US" dirty="0"/>
              <a:t>File &gt; Export &gt; Create PDF/XPS &gt; Options, then check “Document structure tags for accessibility”</a:t>
            </a:r>
          </a:p>
          <a:p>
            <a:r>
              <a:rPr lang="en-US" b="1" dirty="0"/>
              <a:t>Mac: </a:t>
            </a:r>
            <a:r>
              <a:rPr lang="en-US" dirty="0"/>
              <a:t>File &gt; Save As, choose PDF, then select “Best for electronic distribution and accessibility”</a:t>
            </a:r>
          </a:p>
          <a:p>
            <a:r>
              <a:rPr lang="en-US" b="1" dirty="0"/>
              <a:t>Both: </a:t>
            </a:r>
            <a:r>
              <a:rPr lang="en-US" dirty="0"/>
              <a:t>test the PDF with a screen reader or accessibility checker</a:t>
            </a:r>
          </a:p>
        </p:txBody>
      </p:sp>
    </p:spTree>
    <p:extLst>
      <p:ext uri="{BB962C8B-B14F-4D97-AF65-F5344CB8AC3E}">
        <p14:creationId xmlns:p14="http://schemas.microsoft.com/office/powerpoint/2010/main" val="156626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Helpful Resources</a:t>
            </a:r>
          </a:p>
        </p:txBody>
      </p:sp>
      <p:sp>
        <p:nvSpPr>
          <p:cNvPr id="3" name="Content Placeholder 2"/>
          <p:cNvSpPr>
            <a:spLocks noGrp="1"/>
          </p:cNvSpPr>
          <p:nvPr>
            <p:ph idx="1"/>
          </p:nvPr>
        </p:nvSpPr>
        <p:spPr/>
        <p:txBody>
          <a:bodyPr/>
          <a:lstStyle/>
          <a:p>
            <a:r>
              <a:rPr lang="en-US">
                <a:hlinkClick r:id="rId3"/>
              </a:rPr>
              <a:t>A11Y Pros guide to accessible PowerPoint presentations</a:t>
            </a:r>
            <a:endParaRPr lang="en-US"/>
          </a:p>
          <a:p>
            <a:r>
              <a:rPr lang="en-US">
                <a:hlinkClick r:id="rId4"/>
              </a:rPr>
              <a:t>Microsoft guide to accessible PowerPoint presentations</a:t>
            </a:r>
            <a:endParaRPr lang="en-US"/>
          </a:p>
          <a:p>
            <a:r>
              <a:rPr lang="en-US">
                <a:hlinkClick r:id="rId5"/>
              </a:rPr>
              <a:t>WCAG 2.2 quick reference from the W3C</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Thank You</a:t>
            </a:r>
          </a:p>
        </p:txBody>
      </p:sp>
      <p:sp>
        <p:nvSpPr>
          <p:cNvPr id="3" name="Subtitle 2"/>
          <p:cNvSpPr>
            <a:spLocks noGrp="1"/>
          </p:cNvSpPr>
          <p:nvPr>
            <p:ph type="subTitle" idx="1"/>
          </p:nvPr>
        </p:nvSpPr>
        <p:spPr/>
        <p:txBody>
          <a:bodyPr/>
          <a:lstStyle/>
          <a:p>
            <a:r>
              <a:rPr lang="en-US"/>
              <a:t>Questions? Your Name | name@example.com</a:t>
            </a:r>
          </a:p>
        </p:txBody>
      </p:sp>
    </p:spTree>
  </p:cSld>
  <p:clrMapOvr>
    <a:masterClrMapping/>
  </p:clrMapOvr>
</p:sld>
</file>

<file path=ppt/theme/theme1.xml><?xml version="1.0" encoding="utf-8"?>
<a:theme xmlns:a="http://schemas.openxmlformats.org/drawingml/2006/main" name="A11Y Pros Accessible [1792549631274]">
  <a:themeElements>
    <a:clrScheme name="A11Y Pros Accessible">
      <a:dk1>
        <a:srgbClr val="1A1A1A"/>
      </a:dk1>
      <a:lt1>
        <a:srgbClr val="FFFFFF"/>
      </a:lt1>
      <a:dk2>
        <a:srgbClr val="0B2545"/>
      </a:dk2>
      <a:lt2>
        <a:srgbClr val="EEF4F2"/>
      </a:lt2>
      <a:accent1>
        <a:srgbClr val="084A3B"/>
      </a:accent1>
      <a:accent2>
        <a:srgbClr val="0B6E58"/>
      </a:accent2>
      <a:accent3>
        <a:srgbClr val="A23B1E"/>
      </a:accent3>
      <a:accent4>
        <a:srgbClr val="1F4FB5"/>
      </a:accent4>
      <a:accent5>
        <a:srgbClr val="5B3F8C"/>
      </a:accent5>
      <a:accent6>
        <a:srgbClr val="4D4D4D"/>
      </a:accent6>
      <a:hlink>
        <a:srgbClr val="0B57D0"/>
      </a:hlink>
      <a:folHlink>
        <a:srgbClr val="6B2FA3"/>
      </a:folHlink>
    </a:clrScheme>
    <a:fontScheme name="A11Y Pros Accessibl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47292AD-82FA-804E-98C2-88DFD80AAB2A}">
  <we:reference id="WA200010001" version="1.0.0.1" store="Omex" storeType="OMEX"/>
  <we:alternateReferences>
    <we:reference id="WA200010001" version="1.0.0.1" store="WA200010001" storeType="OMEX"/>
  </we:alternateReferences>
  <we:properties>
    <we:property name="claude.fileId" value="&quot;7693ac71-dc0c-4c6c-babf-ffdc33f6d79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46</TotalTime>
  <Words>1399</Words>
  <Application>Microsoft Macintosh PowerPoint</Application>
  <PresentationFormat>Widescreen</PresentationFormat>
  <Paragraphs>128</Paragraphs>
  <Slides>17</Slides>
  <Notes>17</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A11Y Pros Accessible [1792549631274]</vt:lpstr>
      <vt:lpstr>Presentation Title</vt:lpstr>
      <vt:lpstr>How to Use This Template</vt:lpstr>
      <vt:lpstr>Section Title</vt:lpstr>
      <vt:lpstr>Writing Accessible Slide Text</vt:lpstr>
      <vt:lpstr>Accessible Design: Do and Avoid</vt:lpstr>
      <vt:lpstr>Example Chart: Customer Satisfaction by Quarter</vt:lpstr>
      <vt:lpstr>Example Table: Project Timeline</vt:lpstr>
      <vt:lpstr>Example Image with Alt Text</vt:lpstr>
      <vt:lpstr>Example: Informative vs. Decorative Images</vt:lpstr>
      <vt:lpstr>Example: Status Shown with Color, Icon, and Text</vt:lpstr>
      <vt:lpstr>Example Diagram: Accessible Process Flow</vt:lpstr>
      <vt:lpstr>Example: Accessible Video</vt:lpstr>
      <vt:lpstr>Presenting Inclusively</vt:lpstr>
      <vt:lpstr>Before You Share</vt:lpstr>
      <vt:lpstr>Exporting an Accessible PDF</vt:lpstr>
      <vt:lpstr>Helpful Resources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Accessible Presentation Template</dc:title>
  <dc:subject>Accessible PowerPoint template with built-in layouts, alt text, and high-contrast theme</dc:subject>
  <dc:creator>A11Y Pros</dc:creator>
  <cp:keywords>accessibility; WCAG; PowerPoint; template</cp:keywords>
  <dc:description>Created by A11Y Pros. https://a11ypros.com</dc:description>
  <cp:lastModifiedBy>Ryan Mack</cp:lastModifiedBy>
  <cp:revision>5</cp:revision>
  <dcterms:created xsi:type="dcterms:W3CDTF">2013-01-27T09:14:16Z</dcterms:created>
  <dcterms:modified xsi:type="dcterms:W3CDTF">2026-10-21T03:09:26Z</dcterms:modified>
  <cp:category/>
  <dc:language>en-US</dc:language>
</cp:coreProperties>
</file>